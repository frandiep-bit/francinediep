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2" r:id="rId6"/>
    <p:sldId id="261" r:id="rId7"/>
    <p:sldId id="260"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80"/>
    <p:restoredTop sz="94640"/>
  </p:normalViewPr>
  <p:slideViewPr>
    <p:cSldViewPr snapToGrid="0">
      <p:cViewPr varScale="1">
        <p:scale>
          <a:sx n="211" d="100"/>
          <a:sy n="211" d="100"/>
        </p:scale>
        <p:origin x="47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E1F07B7-E961-194A-B309-16ED58E64F42}" type="datetimeFigureOut">
              <a:rPr lang="en-US" smtClean="0"/>
              <a:t>4/29/24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13239552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1F07B7-E961-194A-B309-16ED58E64F42}" type="datetimeFigureOut">
              <a:rPr lang="en-US" smtClean="0"/>
              <a:t>4/29/24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1173272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E1F07B7-E961-194A-B309-16ED58E64F42}" type="datetimeFigureOut">
              <a:rPr lang="en-US" smtClean="0"/>
              <a:t>4/29/24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34907927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E1F07B7-E961-194A-B309-16ED58E64F42}" type="datetimeFigureOut">
              <a:rPr lang="en-US" smtClean="0"/>
              <a:t>4/29/24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1688715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E1F07B7-E961-194A-B309-16ED58E64F42}" type="datetimeFigureOut">
              <a:rPr lang="en-US" smtClean="0"/>
              <a:t>4/29/24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6C3591-DD46-D64A-9C13-5BE4A79D462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48318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1F07B7-E961-194A-B309-16ED58E64F42}" type="datetimeFigureOut">
              <a:rPr lang="en-US" smtClean="0"/>
              <a:t>4/29/24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2677197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F07B7-E961-194A-B309-16ED58E64F42}" type="datetimeFigureOut">
              <a:rPr lang="en-US" smtClean="0"/>
              <a:t>4/29/24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175710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E1F07B7-E961-194A-B309-16ED58E64F42}" type="datetimeFigureOut">
              <a:rPr lang="en-US" smtClean="0"/>
              <a:t>4/29/24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2950833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E1F07B7-E961-194A-B309-16ED58E64F42}" type="datetimeFigureOut">
              <a:rPr lang="en-US" smtClean="0"/>
              <a:t>4/29/24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344537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1F07B7-E961-194A-B309-16ED58E64F42}" type="datetimeFigureOut">
              <a:rPr lang="en-US" smtClean="0"/>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30455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1F07B7-E961-194A-B309-16ED58E64F42}" type="datetimeFigureOut">
              <a:rPr lang="en-US" smtClean="0"/>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6C3591-DD46-D64A-9C13-5BE4A79D4620}" type="slidenum">
              <a:rPr lang="en-US" smtClean="0"/>
              <a:t>‹#›</a:t>
            </a:fld>
            <a:endParaRPr lang="en-US"/>
          </a:p>
        </p:txBody>
      </p:sp>
    </p:spTree>
    <p:extLst>
      <p:ext uri="{BB962C8B-B14F-4D97-AF65-F5344CB8AC3E}">
        <p14:creationId xmlns:p14="http://schemas.microsoft.com/office/powerpoint/2010/main" val="3481442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E1F07B7-E961-194A-B309-16ED58E64F42}" type="datetimeFigureOut">
              <a:rPr lang="en-US" smtClean="0"/>
              <a:t>4/29/24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176C3591-DD46-D64A-9C13-5BE4A79D4620}" type="slidenum">
              <a:rPr lang="en-US" smtClean="0"/>
              <a:t>‹#›</a:t>
            </a:fld>
            <a:endParaRPr lang="en-US"/>
          </a:p>
        </p:txBody>
      </p:sp>
    </p:spTree>
    <p:extLst>
      <p:ext uri="{BB962C8B-B14F-4D97-AF65-F5344CB8AC3E}">
        <p14:creationId xmlns:p14="http://schemas.microsoft.com/office/powerpoint/2010/main" val="1101640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0523-30F7-B9E5-D0AB-B4082CFF2F34}"/>
              </a:ext>
            </a:extLst>
          </p:cNvPr>
          <p:cNvSpPr>
            <a:spLocks noGrp="1"/>
          </p:cNvSpPr>
          <p:nvPr>
            <p:ph type="ctrTitle"/>
          </p:nvPr>
        </p:nvSpPr>
        <p:spPr/>
        <p:txBody>
          <a:bodyPr/>
          <a:lstStyle/>
          <a:p>
            <a:r>
              <a:rPr lang="en-US" dirty="0"/>
              <a:t>NYC noise complaint report</a:t>
            </a:r>
          </a:p>
        </p:txBody>
      </p:sp>
      <p:sp>
        <p:nvSpPr>
          <p:cNvPr id="3" name="Subtitle 2">
            <a:extLst>
              <a:ext uri="{FF2B5EF4-FFF2-40B4-BE49-F238E27FC236}">
                <a16:creationId xmlns:a16="http://schemas.microsoft.com/office/drawing/2014/main" id="{84A3D7ED-5EDE-4BBD-CDE2-51C4B9C2EF84}"/>
              </a:ext>
            </a:extLst>
          </p:cNvPr>
          <p:cNvSpPr>
            <a:spLocks noGrp="1"/>
          </p:cNvSpPr>
          <p:nvPr>
            <p:ph type="subTitle" idx="1"/>
          </p:nvPr>
        </p:nvSpPr>
        <p:spPr/>
        <p:txBody>
          <a:bodyPr/>
          <a:lstStyle/>
          <a:p>
            <a:r>
              <a:rPr lang="en-US" dirty="0"/>
              <a:t>By: Francine Diep</a:t>
            </a:r>
          </a:p>
        </p:txBody>
      </p:sp>
    </p:spTree>
    <p:extLst>
      <p:ext uri="{BB962C8B-B14F-4D97-AF65-F5344CB8AC3E}">
        <p14:creationId xmlns:p14="http://schemas.microsoft.com/office/powerpoint/2010/main" val="45859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A4F94-F6B4-382A-BF2D-366661520BDD}"/>
              </a:ext>
            </a:extLst>
          </p:cNvPr>
          <p:cNvSpPr>
            <a:spLocks noGrp="1"/>
          </p:cNvSpPr>
          <p:nvPr>
            <p:ph type="title"/>
          </p:nvPr>
        </p:nvSpPr>
        <p:spPr/>
        <p:txBody>
          <a:bodyPr/>
          <a:lstStyle/>
          <a:p>
            <a:r>
              <a:rPr lang="en-US" dirty="0"/>
              <a:t>About my report &amp; audience</a:t>
            </a:r>
          </a:p>
        </p:txBody>
      </p:sp>
      <p:sp>
        <p:nvSpPr>
          <p:cNvPr id="3" name="Content Placeholder 2">
            <a:extLst>
              <a:ext uri="{FF2B5EF4-FFF2-40B4-BE49-F238E27FC236}">
                <a16:creationId xmlns:a16="http://schemas.microsoft.com/office/drawing/2014/main" id="{EBE4B278-D3F5-A87D-1FF7-AD3F82A9ABA2}"/>
              </a:ext>
            </a:extLst>
          </p:cNvPr>
          <p:cNvSpPr>
            <a:spLocks noGrp="1"/>
          </p:cNvSpPr>
          <p:nvPr>
            <p:ph idx="1"/>
          </p:nvPr>
        </p:nvSpPr>
        <p:spPr/>
        <p:txBody>
          <a:bodyPr>
            <a:normAutofit fontScale="85000" lnSpcReduction="10000"/>
          </a:bodyPr>
          <a:lstStyle/>
          <a:p>
            <a:pPr marL="0" marR="0" indent="0">
              <a:spcBef>
                <a:spcPts val="0"/>
              </a:spcBef>
              <a:spcAft>
                <a:spcPts val="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yoga instructor in New York City is planning to open her first studio and is seeking a location with minimal noise disturbances. Given the serene nature of her classes, she aims to ensure a quiet and calming environment for her clients.</a:t>
            </a:r>
          </a:p>
          <a:p>
            <a:pPr marL="0" marR="0" indent="0">
              <a:spcBef>
                <a:spcPts val="0"/>
              </a:spcBef>
              <a:spcAft>
                <a:spcPts val="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spcBef>
                <a:spcPts val="0"/>
              </a:spcBef>
              <a:spcAft>
                <a:spcPts val="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client has not set her operation hours. She would like some information about times of day and days of the week the noise complaints are most prominent before making this decision.</a:t>
            </a:r>
          </a:p>
          <a:p>
            <a:pPr marL="0" marR="0" indent="0">
              <a:spcBef>
                <a:spcPts val="0"/>
              </a:spcBef>
              <a:spcAft>
                <a:spcPts val="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indent="0">
              <a:spcBef>
                <a:spcPts val="0"/>
              </a:spcBef>
              <a:spcAft>
                <a:spcPts val="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address her concerns, the instructor has identified several potential locations but wishes to select one with historically low noise levels. She is particularly interested in analyzing noise complaints data from the past few years to pinpoint zip code areas with the least amount of disturbance. By understanding the types of noise complaints prevalent in different zip code areas/neighborhoods, she intends to prioritize soundproofing renovations, accordingly, ensuring a peaceful atmosphere for her clients.</a:t>
            </a:r>
          </a:p>
          <a:p>
            <a:endParaRPr lang="en-US" dirty="0"/>
          </a:p>
        </p:txBody>
      </p:sp>
    </p:spTree>
    <p:extLst>
      <p:ext uri="{BB962C8B-B14F-4D97-AF65-F5344CB8AC3E}">
        <p14:creationId xmlns:p14="http://schemas.microsoft.com/office/powerpoint/2010/main" val="32630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75EEF-21D2-6D8A-D83D-207B2BA089FD}"/>
              </a:ext>
            </a:extLst>
          </p:cNvPr>
          <p:cNvSpPr>
            <a:spLocks noGrp="1"/>
          </p:cNvSpPr>
          <p:nvPr>
            <p:ph type="title"/>
          </p:nvPr>
        </p:nvSpPr>
        <p:spPr/>
        <p:txBody>
          <a:bodyPr/>
          <a:lstStyle/>
          <a:p>
            <a:r>
              <a:rPr lang="en-US" dirty="0"/>
              <a:t>About the dataset</a:t>
            </a:r>
          </a:p>
        </p:txBody>
      </p:sp>
      <p:sp>
        <p:nvSpPr>
          <p:cNvPr id="3" name="Content Placeholder 2">
            <a:extLst>
              <a:ext uri="{FF2B5EF4-FFF2-40B4-BE49-F238E27FC236}">
                <a16:creationId xmlns:a16="http://schemas.microsoft.com/office/drawing/2014/main" id="{F0396314-BD14-6019-7C18-5B4C055B6284}"/>
              </a:ext>
            </a:extLst>
          </p:cNvPr>
          <p:cNvSpPr>
            <a:spLocks noGrp="1"/>
          </p:cNvSpPr>
          <p:nvPr>
            <p:ph idx="1"/>
          </p:nvPr>
        </p:nvSpPr>
        <p:spPr/>
        <p:txBody>
          <a:bodyPr/>
          <a:lstStyle/>
          <a:p>
            <a:r>
              <a:rPr lang="en-US" dirty="0"/>
              <a:t>The data set includes sound complaints from commercial spaces, residential, and street/sidewalks.</a:t>
            </a:r>
          </a:p>
          <a:p>
            <a:r>
              <a:rPr lang="en-US" dirty="0"/>
              <a:t>I identified the different locations that are available for the client to rent a space for her yoga studio.</a:t>
            </a:r>
          </a:p>
          <a:p>
            <a:r>
              <a:rPr lang="en-US" dirty="0"/>
              <a:t>Dataset includes variables like descriptors of complaints, complaint timestamp, incident address, and count of complaint IDs.</a:t>
            </a:r>
          </a:p>
        </p:txBody>
      </p:sp>
    </p:spTree>
    <p:extLst>
      <p:ext uri="{BB962C8B-B14F-4D97-AF65-F5344CB8AC3E}">
        <p14:creationId xmlns:p14="http://schemas.microsoft.com/office/powerpoint/2010/main" val="3322443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A4AFB-4E86-F1A3-B0B5-1E09173D780E}"/>
              </a:ext>
            </a:extLst>
          </p:cNvPr>
          <p:cNvSpPr>
            <a:spLocks noGrp="1"/>
          </p:cNvSpPr>
          <p:nvPr>
            <p:ph type="title"/>
          </p:nvPr>
        </p:nvSpPr>
        <p:spPr/>
        <p:txBody>
          <a:bodyPr/>
          <a:lstStyle/>
          <a:p>
            <a:r>
              <a:rPr lang="en-US" dirty="0"/>
              <a:t>Questions to answer</a:t>
            </a:r>
          </a:p>
        </p:txBody>
      </p:sp>
      <p:sp>
        <p:nvSpPr>
          <p:cNvPr id="3" name="Content Placeholder 2">
            <a:extLst>
              <a:ext uri="{FF2B5EF4-FFF2-40B4-BE49-F238E27FC236}">
                <a16:creationId xmlns:a16="http://schemas.microsoft.com/office/drawing/2014/main" id="{09761750-AD8B-092F-7579-D0536BA93707}"/>
              </a:ext>
            </a:extLst>
          </p:cNvPr>
          <p:cNvSpPr>
            <a:spLocks noGrp="1"/>
          </p:cNvSpPr>
          <p:nvPr>
            <p:ph idx="1"/>
          </p:nvPr>
        </p:nvSpPr>
        <p:spPr/>
        <p:txBody>
          <a:bodyPr/>
          <a:lstStyle/>
          <a:p>
            <a:r>
              <a:rPr lang="en-US" dirty="0"/>
              <a:t>Client wants to know what the noise descriptors are (music, talking, etc.) for her to better know what and how much she needs to invest to soundproof her yoga studio.</a:t>
            </a:r>
          </a:p>
          <a:p>
            <a:r>
              <a:rPr lang="en-US" dirty="0"/>
              <a:t>What areas experience a larger call volume?</a:t>
            </a:r>
          </a:p>
          <a:p>
            <a:r>
              <a:rPr lang="en-US" dirty="0"/>
              <a:t>What days of the week experience higher call volume?</a:t>
            </a:r>
          </a:p>
          <a:p>
            <a:r>
              <a:rPr lang="en-US" dirty="0"/>
              <a:t>What hours of the day experience a higher call volume?</a:t>
            </a:r>
          </a:p>
          <a:p>
            <a:r>
              <a:rPr lang="en-US" dirty="0"/>
              <a:t>How will these noise levels affect what her hours and days of operation are?</a:t>
            </a:r>
          </a:p>
          <a:p>
            <a:pPr marL="0" indent="0">
              <a:buNone/>
            </a:pPr>
            <a:endParaRPr lang="en-US" dirty="0"/>
          </a:p>
        </p:txBody>
      </p:sp>
    </p:spTree>
    <p:extLst>
      <p:ext uri="{BB962C8B-B14F-4D97-AF65-F5344CB8AC3E}">
        <p14:creationId xmlns:p14="http://schemas.microsoft.com/office/powerpoint/2010/main" val="2346146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F11B-FA51-603A-F5CD-724F092CD7F4}"/>
              </a:ext>
            </a:extLst>
          </p:cNvPr>
          <p:cNvSpPr>
            <a:spLocks noGrp="1"/>
          </p:cNvSpPr>
          <p:nvPr>
            <p:ph type="title"/>
          </p:nvPr>
        </p:nvSpPr>
        <p:spPr>
          <a:xfrm>
            <a:off x="804672" y="964692"/>
            <a:ext cx="5894832" cy="1188720"/>
          </a:xfrm>
        </p:spPr>
        <p:txBody>
          <a:bodyPr>
            <a:normAutofit/>
          </a:bodyPr>
          <a:lstStyle/>
          <a:p>
            <a:r>
              <a:rPr lang="en-US"/>
              <a:t>Types of noise documented</a:t>
            </a:r>
          </a:p>
        </p:txBody>
      </p:sp>
      <p:sp>
        <p:nvSpPr>
          <p:cNvPr id="12" name="Content Placeholder 11">
            <a:extLst>
              <a:ext uri="{FF2B5EF4-FFF2-40B4-BE49-F238E27FC236}">
                <a16:creationId xmlns:a16="http://schemas.microsoft.com/office/drawing/2014/main" id="{0A0C9FE6-6BF1-09A5-3FB6-F4B244D9E4B3}"/>
              </a:ext>
            </a:extLst>
          </p:cNvPr>
          <p:cNvSpPr>
            <a:spLocks noGrp="1"/>
          </p:cNvSpPr>
          <p:nvPr>
            <p:ph idx="1"/>
          </p:nvPr>
        </p:nvSpPr>
        <p:spPr>
          <a:xfrm>
            <a:off x="803243" y="2638044"/>
            <a:ext cx="5963317" cy="3263206"/>
          </a:xfrm>
        </p:spPr>
        <p:txBody>
          <a:bodyPr>
            <a:normAutofit/>
          </a:bodyPr>
          <a:lstStyle/>
          <a:p>
            <a:r>
              <a:rPr lang="en-US" dirty="0"/>
              <a:t>Loud music is the most frequent noise descriptor.</a:t>
            </a:r>
          </a:p>
          <a:p>
            <a:r>
              <a:rPr lang="en-US" dirty="0"/>
              <a:t>Followed by banging/pounding &amp; loud talking.</a:t>
            </a:r>
          </a:p>
        </p:txBody>
      </p:sp>
      <p:sp>
        <p:nvSpPr>
          <p:cNvPr id="15" name="Rectangle 14">
            <a:extLst>
              <a:ext uri="{FF2B5EF4-FFF2-40B4-BE49-F238E27FC236}">
                <a16:creationId xmlns:a16="http://schemas.microsoft.com/office/drawing/2014/main" id="{879398A9-0D0D-4901-BDDF-B3D93CECA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6706" y="964692"/>
            <a:ext cx="398678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11FEC3B-E514-4E21-B2CB-7903A7356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1298" y="1128683"/>
            <a:ext cx="3657600"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graph of a number of people&#10;&#10;Description automatically generated with medium confidence">
            <a:extLst>
              <a:ext uri="{FF2B5EF4-FFF2-40B4-BE49-F238E27FC236}">
                <a16:creationId xmlns:a16="http://schemas.microsoft.com/office/drawing/2014/main" id="{5F0B58A7-7BBD-633F-9FC5-B83C7223E4BF}"/>
              </a:ext>
            </a:extLst>
          </p:cNvPr>
          <p:cNvPicPr>
            <a:picLocks noChangeAspect="1"/>
          </p:cNvPicPr>
          <p:nvPr/>
        </p:nvPicPr>
        <p:blipFill>
          <a:blip r:embed="rId2"/>
          <a:stretch>
            <a:fillRect/>
          </a:stretch>
        </p:blipFill>
        <p:spPr>
          <a:xfrm>
            <a:off x="6988931" y="333360"/>
            <a:ext cx="5061372" cy="6191280"/>
          </a:xfrm>
          <a:prstGeom prst="rect">
            <a:avLst/>
          </a:prstGeom>
        </p:spPr>
      </p:pic>
    </p:spTree>
    <p:extLst>
      <p:ext uri="{BB962C8B-B14F-4D97-AF65-F5344CB8AC3E}">
        <p14:creationId xmlns:p14="http://schemas.microsoft.com/office/powerpoint/2010/main" val="10220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73C2-9530-4972-6980-37DC862D066E}"/>
              </a:ext>
            </a:extLst>
          </p:cNvPr>
          <p:cNvSpPr>
            <a:spLocks noGrp="1"/>
          </p:cNvSpPr>
          <p:nvPr>
            <p:ph type="title"/>
          </p:nvPr>
        </p:nvSpPr>
        <p:spPr/>
        <p:txBody>
          <a:bodyPr/>
          <a:lstStyle/>
          <a:p>
            <a:r>
              <a:rPr lang="en-US" dirty="0"/>
              <a:t>Heat map – Count of calls by weekday</a:t>
            </a:r>
          </a:p>
        </p:txBody>
      </p:sp>
      <p:pic>
        <p:nvPicPr>
          <p:cNvPr id="5" name="Content Placeholder 4" descr="A screenshot of a calendar&#10;&#10;Description automatically generated">
            <a:extLst>
              <a:ext uri="{FF2B5EF4-FFF2-40B4-BE49-F238E27FC236}">
                <a16:creationId xmlns:a16="http://schemas.microsoft.com/office/drawing/2014/main" id="{3B6C0861-6368-C2FF-B6AF-1B8DC5E25F7D}"/>
              </a:ext>
            </a:extLst>
          </p:cNvPr>
          <p:cNvPicPr>
            <a:picLocks noGrp="1" noChangeAspect="1"/>
          </p:cNvPicPr>
          <p:nvPr>
            <p:ph idx="1"/>
          </p:nvPr>
        </p:nvPicPr>
        <p:blipFill>
          <a:blip r:embed="rId2"/>
          <a:stretch>
            <a:fillRect/>
          </a:stretch>
        </p:blipFill>
        <p:spPr>
          <a:xfrm>
            <a:off x="101963" y="2844435"/>
            <a:ext cx="11988073" cy="2614941"/>
          </a:xfrm>
        </p:spPr>
      </p:pic>
    </p:spTree>
    <p:extLst>
      <p:ext uri="{BB962C8B-B14F-4D97-AF65-F5344CB8AC3E}">
        <p14:creationId xmlns:p14="http://schemas.microsoft.com/office/powerpoint/2010/main" val="104957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8F0B-F675-A43F-E68F-AC001FF8EF6A}"/>
              </a:ext>
            </a:extLst>
          </p:cNvPr>
          <p:cNvSpPr>
            <a:spLocks noGrp="1"/>
          </p:cNvSpPr>
          <p:nvPr>
            <p:ph type="title"/>
          </p:nvPr>
        </p:nvSpPr>
        <p:spPr>
          <a:xfrm>
            <a:off x="2231136" y="964692"/>
            <a:ext cx="7729728" cy="1188720"/>
          </a:xfrm>
        </p:spPr>
        <p:txBody>
          <a:bodyPr vert="horz" lIns="182880" tIns="182880" rIns="182880" bIns="182880" rtlCol="0" anchor="ctr">
            <a:normAutofit/>
          </a:bodyPr>
          <a:lstStyle/>
          <a:p>
            <a:r>
              <a:rPr lang="en-US" dirty="0"/>
              <a:t>Heat map – Count of calls by hour of day</a:t>
            </a:r>
          </a:p>
        </p:txBody>
      </p:sp>
      <p:pic>
        <p:nvPicPr>
          <p:cNvPr id="5" name="Picture 4" descr="A screenshot of a survey&#10;&#10;Description automatically generated">
            <a:extLst>
              <a:ext uri="{FF2B5EF4-FFF2-40B4-BE49-F238E27FC236}">
                <a16:creationId xmlns:a16="http://schemas.microsoft.com/office/drawing/2014/main" id="{D1A1D0E6-921C-CBD3-341E-91A8CB9089FD}"/>
              </a:ext>
            </a:extLst>
          </p:cNvPr>
          <p:cNvPicPr>
            <a:picLocks noChangeAspect="1"/>
          </p:cNvPicPr>
          <p:nvPr/>
        </p:nvPicPr>
        <p:blipFill rotWithShape="1">
          <a:blip r:embed="rId2"/>
          <a:srcRect b="12813"/>
          <a:stretch/>
        </p:blipFill>
        <p:spPr>
          <a:xfrm>
            <a:off x="373681" y="2545752"/>
            <a:ext cx="11444638" cy="2918614"/>
          </a:xfrm>
          <a:prstGeom prst="rect">
            <a:avLst/>
          </a:prstGeom>
        </p:spPr>
      </p:pic>
    </p:spTree>
    <p:extLst>
      <p:ext uri="{BB962C8B-B14F-4D97-AF65-F5344CB8AC3E}">
        <p14:creationId xmlns:p14="http://schemas.microsoft.com/office/powerpoint/2010/main" val="280883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Content Placeholder 12">
            <a:extLst>
              <a:ext uri="{FF2B5EF4-FFF2-40B4-BE49-F238E27FC236}">
                <a16:creationId xmlns:a16="http://schemas.microsoft.com/office/drawing/2014/main" id="{4AAC531B-7A62-71EE-F070-648B48BBF529}"/>
              </a:ext>
            </a:extLst>
          </p:cNvPr>
          <p:cNvSpPr>
            <a:spLocks noGrp="1"/>
          </p:cNvSpPr>
          <p:nvPr>
            <p:ph idx="1"/>
          </p:nvPr>
        </p:nvSpPr>
        <p:spPr>
          <a:xfrm>
            <a:off x="472742" y="2024700"/>
            <a:ext cx="3714319" cy="3712559"/>
          </a:xfrm>
        </p:spPr>
        <p:txBody>
          <a:bodyPr>
            <a:normAutofit/>
          </a:bodyPr>
          <a:lstStyle/>
          <a:p>
            <a:pPr marL="0" indent="0">
              <a:buNone/>
            </a:pPr>
            <a:r>
              <a:rPr lang="en-US" dirty="0"/>
              <a:t>Dashboard on Tableau.</a:t>
            </a:r>
          </a:p>
          <a:p>
            <a:pPr marL="0" indent="0">
              <a:buNone/>
            </a:pPr>
            <a:endParaRPr lang="en-US" dirty="0"/>
          </a:p>
          <a:p>
            <a:r>
              <a:rPr lang="en-US" dirty="0"/>
              <a:t>Most frequent noise complaint is loud music/party.</a:t>
            </a:r>
          </a:p>
          <a:p>
            <a:r>
              <a:rPr lang="en-US" dirty="0"/>
              <a:t>Most noise complaints between 19:00 hours (7p) and 2:00 (2am)</a:t>
            </a:r>
          </a:p>
          <a:p>
            <a:r>
              <a:rPr lang="en-US" dirty="0"/>
              <a:t>Friday through Sunday are the days of the week that noise complaints have been documented on.</a:t>
            </a:r>
          </a:p>
        </p:txBody>
      </p:sp>
      <p:sp>
        <p:nvSpPr>
          <p:cNvPr id="23" name="Rectangle 22">
            <a:extLst>
              <a:ext uri="{FF2B5EF4-FFF2-40B4-BE49-F238E27FC236}">
                <a16:creationId xmlns:a16="http://schemas.microsoft.com/office/drawing/2014/main" id="{56533F40-045E-4E3D-9243-864CD4E58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3605" y="964692"/>
            <a:ext cx="5440680"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0402EC6-D845-41B3-BEBE-CB34D9BFE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0699" y="1128683"/>
            <a:ext cx="5106493"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map&#10;&#10;Description automatically generated">
            <a:extLst>
              <a:ext uri="{FF2B5EF4-FFF2-40B4-BE49-F238E27FC236}">
                <a16:creationId xmlns:a16="http://schemas.microsoft.com/office/drawing/2014/main" id="{5C98C823-9299-B0BB-0ED4-DC0C0EB6DB4D}"/>
              </a:ext>
            </a:extLst>
          </p:cNvPr>
          <p:cNvPicPr>
            <a:picLocks noChangeAspect="1"/>
          </p:cNvPicPr>
          <p:nvPr/>
        </p:nvPicPr>
        <p:blipFill>
          <a:blip r:embed="rId2"/>
          <a:stretch>
            <a:fillRect/>
          </a:stretch>
        </p:blipFill>
        <p:spPr>
          <a:xfrm>
            <a:off x="4187061" y="357546"/>
            <a:ext cx="7785543" cy="5859710"/>
          </a:xfrm>
          <a:prstGeom prst="rect">
            <a:avLst/>
          </a:prstGeom>
        </p:spPr>
      </p:pic>
    </p:spTree>
    <p:extLst>
      <p:ext uri="{BB962C8B-B14F-4D97-AF65-F5344CB8AC3E}">
        <p14:creationId xmlns:p14="http://schemas.microsoft.com/office/powerpoint/2010/main" val="49466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4D3B-9771-15EF-A850-CD17D09045D5}"/>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A0ECFF11-6879-17C0-8085-566438F14FF4}"/>
              </a:ext>
            </a:extLst>
          </p:cNvPr>
          <p:cNvSpPr>
            <a:spLocks noGrp="1"/>
          </p:cNvSpPr>
          <p:nvPr>
            <p:ph idx="1"/>
          </p:nvPr>
        </p:nvSpPr>
        <p:spPr/>
        <p:txBody>
          <a:bodyPr/>
          <a:lstStyle/>
          <a:p>
            <a:r>
              <a:rPr lang="en-US" dirty="0"/>
              <a:t>Soundproofing investment that can reduce the sounds of loud music.</a:t>
            </a:r>
          </a:p>
          <a:p>
            <a:r>
              <a:rPr lang="en-US" dirty="0"/>
              <a:t>Hours of operation should consider that the noise complaints occur most between 7pm through 2am.</a:t>
            </a:r>
          </a:p>
          <a:p>
            <a:r>
              <a:rPr lang="en-US" dirty="0"/>
              <a:t>Days of operation should consider that weekends tend to have most noise complaints of the week.</a:t>
            </a:r>
          </a:p>
          <a:p>
            <a:r>
              <a:rPr lang="en-US" dirty="0"/>
              <a:t>11201,11205,11217, and 11238 are most preferable zip codes.</a:t>
            </a:r>
          </a:p>
        </p:txBody>
      </p:sp>
    </p:spTree>
    <p:extLst>
      <p:ext uri="{BB962C8B-B14F-4D97-AF65-F5344CB8AC3E}">
        <p14:creationId xmlns:p14="http://schemas.microsoft.com/office/powerpoint/2010/main" val="418874724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3082</TotalTime>
  <Words>457</Words>
  <Application>Microsoft Macintosh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Gill Sans MT</vt:lpstr>
      <vt:lpstr>Parcel</vt:lpstr>
      <vt:lpstr>NYC noise complaint report</vt:lpstr>
      <vt:lpstr>About my report &amp; audience</vt:lpstr>
      <vt:lpstr>About the dataset</vt:lpstr>
      <vt:lpstr>Questions to answer</vt:lpstr>
      <vt:lpstr>Types of noise documented</vt:lpstr>
      <vt:lpstr>Heat map – Count of calls by weekday</vt:lpstr>
      <vt:lpstr>Heat map – Count of calls by hour of day</vt:lpstr>
      <vt:lpstr>PowerPoint Presentation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noise complaint report</dc:title>
  <dc:creator>Francine Diep</dc:creator>
  <cp:lastModifiedBy>Francine Diep</cp:lastModifiedBy>
  <cp:revision>4</cp:revision>
  <dcterms:created xsi:type="dcterms:W3CDTF">2024-04-30T00:30:35Z</dcterms:created>
  <dcterms:modified xsi:type="dcterms:W3CDTF">2024-05-02T03:52:54Z</dcterms:modified>
</cp:coreProperties>
</file>