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1"/>
  </p:sldMasterIdLst>
  <p:notesMasterIdLst>
    <p:notesMasterId r:id="rId13"/>
  </p:notesMasterIdLst>
  <p:sldIdLst>
    <p:sldId id="256" r:id="rId2"/>
    <p:sldId id="257" r:id="rId3"/>
    <p:sldId id="265" r:id="rId4"/>
    <p:sldId id="266" r:id="rId5"/>
    <p:sldId id="258" r:id="rId6"/>
    <p:sldId id="259" r:id="rId7"/>
    <p:sldId id="260" r:id="rId8"/>
    <p:sldId id="261" r:id="rId9"/>
    <p:sldId id="262" r:id="rId10"/>
    <p:sldId id="263"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71946"/>
  </p:normalViewPr>
  <p:slideViewPr>
    <p:cSldViewPr snapToGrid="0">
      <p:cViewPr varScale="1">
        <p:scale>
          <a:sx n="86" d="100"/>
          <a:sy n="86" d="100"/>
        </p:scale>
        <p:origin x="1832" y="192"/>
      </p:cViewPr>
      <p:guideLst/>
    </p:cSldViewPr>
  </p:slideViewPr>
  <p:notesTextViewPr>
    <p:cViewPr>
      <p:scale>
        <a:sx n="1" d="1"/>
        <a:sy n="1" d="1"/>
      </p:scale>
      <p:origin x="0" y="-1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101549-7D32-4311-8115-19C44E53F396}" type="doc">
      <dgm:prSet loTypeId="urn:microsoft.com/office/officeart/2018/5/layout/IconCircle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D19BE704-7924-46EF-B834-094255646BFF}">
      <dgm:prSet/>
      <dgm:spPr/>
      <dgm:t>
        <a:bodyPr/>
        <a:lstStyle/>
        <a:p>
          <a:pPr>
            <a:defRPr cap="all"/>
          </a:pPr>
          <a:r>
            <a:rPr lang="en-US"/>
            <a:t>The top service requests were Electrical systems, Heating, and Plumbing.</a:t>
          </a:r>
        </a:p>
      </dgm:t>
    </dgm:pt>
    <dgm:pt modelId="{FA4C1D34-977B-4411-BFDF-DA2DFFAB97F3}" type="parTrans" cxnId="{E352A025-EFBE-4B5E-8766-199127921043}">
      <dgm:prSet/>
      <dgm:spPr/>
      <dgm:t>
        <a:bodyPr/>
        <a:lstStyle/>
        <a:p>
          <a:endParaRPr lang="en-US"/>
        </a:p>
      </dgm:t>
    </dgm:pt>
    <dgm:pt modelId="{7139F2CF-54A9-4ABC-8AC5-A90EB0D79E1F}" type="sibTrans" cxnId="{E352A025-EFBE-4B5E-8766-199127921043}">
      <dgm:prSet/>
      <dgm:spPr/>
      <dgm:t>
        <a:bodyPr/>
        <a:lstStyle/>
        <a:p>
          <a:endParaRPr lang="en-US"/>
        </a:p>
      </dgm:t>
    </dgm:pt>
    <dgm:pt modelId="{723C9CF9-FA2F-4A6E-8CD8-F824C2D8D5B7}">
      <dgm:prSet/>
      <dgm:spPr/>
      <dgm:t>
        <a:bodyPr/>
        <a:lstStyle/>
        <a:p>
          <a:pPr>
            <a:defRPr cap="all"/>
          </a:pPr>
          <a:r>
            <a:rPr lang="en-US"/>
            <a:t>Total hours spent on completed requests was 4 hours.</a:t>
          </a:r>
        </a:p>
      </dgm:t>
    </dgm:pt>
    <dgm:pt modelId="{C2DAFCA7-CE2C-4546-920B-3F04F4E196D6}" type="parTrans" cxnId="{E128BBD9-D8B4-444E-8BA6-64A7664DBA18}">
      <dgm:prSet/>
      <dgm:spPr/>
      <dgm:t>
        <a:bodyPr/>
        <a:lstStyle/>
        <a:p>
          <a:endParaRPr lang="en-US"/>
        </a:p>
      </dgm:t>
    </dgm:pt>
    <dgm:pt modelId="{E09C4786-E1C1-498E-B221-D78F0B0C6D81}" type="sibTrans" cxnId="{E128BBD9-D8B4-444E-8BA6-64A7664DBA18}">
      <dgm:prSet/>
      <dgm:spPr/>
      <dgm:t>
        <a:bodyPr/>
        <a:lstStyle/>
        <a:p>
          <a:endParaRPr lang="en-US"/>
        </a:p>
      </dgm:t>
    </dgm:pt>
    <dgm:pt modelId="{010FE494-4D2E-41D1-B72E-2B3A60E66F22}">
      <dgm:prSet/>
      <dgm:spPr/>
      <dgm:t>
        <a:bodyPr/>
        <a:lstStyle/>
        <a:p>
          <a:pPr>
            <a:defRPr cap="all"/>
          </a:pPr>
          <a:r>
            <a:rPr lang="en-US"/>
            <a:t>Total hours estimated across open/scheduled requests is 15 hours.</a:t>
          </a:r>
        </a:p>
      </dgm:t>
    </dgm:pt>
    <dgm:pt modelId="{889AE30E-01FB-4101-A85B-26EDD0F46F13}" type="parTrans" cxnId="{AA6913D1-2ED3-46C7-ACA8-516CFA2FABB9}">
      <dgm:prSet/>
      <dgm:spPr/>
      <dgm:t>
        <a:bodyPr/>
        <a:lstStyle/>
        <a:p>
          <a:endParaRPr lang="en-US"/>
        </a:p>
      </dgm:t>
    </dgm:pt>
    <dgm:pt modelId="{5F9458DB-B6EB-4DDC-BD45-A36768B64B7A}" type="sibTrans" cxnId="{AA6913D1-2ED3-46C7-ACA8-516CFA2FABB9}">
      <dgm:prSet/>
      <dgm:spPr/>
      <dgm:t>
        <a:bodyPr/>
        <a:lstStyle/>
        <a:p>
          <a:endParaRPr lang="en-US"/>
        </a:p>
      </dgm:t>
    </dgm:pt>
    <dgm:pt modelId="{6AE0BEDD-DC89-47F3-B8AB-20F7D6688E31}" type="pres">
      <dgm:prSet presAssocID="{9C101549-7D32-4311-8115-19C44E53F396}" presName="root" presStyleCnt="0">
        <dgm:presLayoutVars>
          <dgm:dir/>
          <dgm:resizeHandles val="exact"/>
        </dgm:presLayoutVars>
      </dgm:prSet>
      <dgm:spPr/>
    </dgm:pt>
    <dgm:pt modelId="{EF206128-1184-44C8-9818-C9B2D58D5867}" type="pres">
      <dgm:prSet presAssocID="{D19BE704-7924-46EF-B834-094255646BFF}" presName="compNode" presStyleCnt="0"/>
      <dgm:spPr/>
    </dgm:pt>
    <dgm:pt modelId="{3DC3BCE1-DAA6-48E8-AAD8-7C285B142E74}" type="pres">
      <dgm:prSet presAssocID="{D19BE704-7924-46EF-B834-094255646BFF}" presName="iconBgRect" presStyleLbl="bgShp" presStyleIdx="0" presStyleCnt="3"/>
      <dgm:spPr/>
    </dgm:pt>
    <dgm:pt modelId="{0F90F5A4-FC81-46F8-9347-F9FFFCD1359A}" type="pres">
      <dgm:prSet presAssocID="{D19BE704-7924-46EF-B834-094255646BF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fresh"/>
        </a:ext>
      </dgm:extLst>
    </dgm:pt>
    <dgm:pt modelId="{3E1BC1F2-0281-4167-9C0E-5777588D4BBB}" type="pres">
      <dgm:prSet presAssocID="{D19BE704-7924-46EF-B834-094255646BFF}" presName="spaceRect" presStyleCnt="0"/>
      <dgm:spPr/>
    </dgm:pt>
    <dgm:pt modelId="{94E0F05A-2F16-4137-A0B6-6685AE73F622}" type="pres">
      <dgm:prSet presAssocID="{D19BE704-7924-46EF-B834-094255646BFF}" presName="textRect" presStyleLbl="revTx" presStyleIdx="0" presStyleCnt="3">
        <dgm:presLayoutVars>
          <dgm:chMax val="1"/>
          <dgm:chPref val="1"/>
        </dgm:presLayoutVars>
      </dgm:prSet>
      <dgm:spPr/>
    </dgm:pt>
    <dgm:pt modelId="{9CE93416-583A-4A00-A703-95C0F4CE563D}" type="pres">
      <dgm:prSet presAssocID="{7139F2CF-54A9-4ABC-8AC5-A90EB0D79E1F}" presName="sibTrans" presStyleCnt="0"/>
      <dgm:spPr/>
    </dgm:pt>
    <dgm:pt modelId="{8C287DC6-4826-4202-834E-FB69E8B12A80}" type="pres">
      <dgm:prSet presAssocID="{723C9CF9-FA2F-4A6E-8CD8-F824C2D8D5B7}" presName="compNode" presStyleCnt="0"/>
      <dgm:spPr/>
    </dgm:pt>
    <dgm:pt modelId="{AB21ACFE-7593-4268-BEEB-DAA423F1AA28}" type="pres">
      <dgm:prSet presAssocID="{723C9CF9-FA2F-4A6E-8CD8-F824C2D8D5B7}" presName="iconBgRect" presStyleLbl="bgShp" presStyleIdx="1" presStyleCnt="3"/>
      <dgm:spPr/>
    </dgm:pt>
    <dgm:pt modelId="{A609AD14-AA34-4988-B5C7-121D8FEF6807}" type="pres">
      <dgm:prSet presAssocID="{723C9CF9-FA2F-4A6E-8CD8-F824C2D8D5B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1E5A584C-4714-4051-8CB9-F5991E04D732}" type="pres">
      <dgm:prSet presAssocID="{723C9CF9-FA2F-4A6E-8CD8-F824C2D8D5B7}" presName="spaceRect" presStyleCnt="0"/>
      <dgm:spPr/>
    </dgm:pt>
    <dgm:pt modelId="{D53CB8BD-7E76-4C79-B649-312BD07D4E5F}" type="pres">
      <dgm:prSet presAssocID="{723C9CF9-FA2F-4A6E-8CD8-F824C2D8D5B7}" presName="textRect" presStyleLbl="revTx" presStyleIdx="1" presStyleCnt="3">
        <dgm:presLayoutVars>
          <dgm:chMax val="1"/>
          <dgm:chPref val="1"/>
        </dgm:presLayoutVars>
      </dgm:prSet>
      <dgm:spPr/>
    </dgm:pt>
    <dgm:pt modelId="{4E98BE58-7557-4B9C-A10B-68DBBEB3DC48}" type="pres">
      <dgm:prSet presAssocID="{E09C4786-E1C1-498E-B221-D78F0B0C6D81}" presName="sibTrans" presStyleCnt="0"/>
      <dgm:spPr/>
    </dgm:pt>
    <dgm:pt modelId="{B07B707F-7794-4CF3-BA95-056A9A4D85E2}" type="pres">
      <dgm:prSet presAssocID="{010FE494-4D2E-41D1-B72E-2B3A60E66F22}" presName="compNode" presStyleCnt="0"/>
      <dgm:spPr/>
    </dgm:pt>
    <dgm:pt modelId="{61C7709F-A28E-474A-8DDE-EDCCC45E5792}" type="pres">
      <dgm:prSet presAssocID="{010FE494-4D2E-41D1-B72E-2B3A60E66F22}" presName="iconBgRect" presStyleLbl="bgShp" presStyleIdx="2" presStyleCnt="3"/>
      <dgm:spPr/>
    </dgm:pt>
    <dgm:pt modelId="{C61A0F0D-1C45-4E0E-8327-F77426BB2F79}" type="pres">
      <dgm:prSet presAssocID="{010FE494-4D2E-41D1-B72E-2B3A60E66F2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oading"/>
        </a:ext>
      </dgm:extLst>
    </dgm:pt>
    <dgm:pt modelId="{D720C98B-AA60-4C12-BC99-AD3B16241CF6}" type="pres">
      <dgm:prSet presAssocID="{010FE494-4D2E-41D1-B72E-2B3A60E66F22}" presName="spaceRect" presStyleCnt="0"/>
      <dgm:spPr/>
    </dgm:pt>
    <dgm:pt modelId="{472E2DED-D59B-4111-849C-6549B16D4ACB}" type="pres">
      <dgm:prSet presAssocID="{010FE494-4D2E-41D1-B72E-2B3A60E66F22}" presName="textRect" presStyleLbl="revTx" presStyleIdx="2" presStyleCnt="3">
        <dgm:presLayoutVars>
          <dgm:chMax val="1"/>
          <dgm:chPref val="1"/>
        </dgm:presLayoutVars>
      </dgm:prSet>
      <dgm:spPr/>
    </dgm:pt>
  </dgm:ptLst>
  <dgm:cxnLst>
    <dgm:cxn modelId="{E352A025-EFBE-4B5E-8766-199127921043}" srcId="{9C101549-7D32-4311-8115-19C44E53F396}" destId="{D19BE704-7924-46EF-B834-094255646BFF}" srcOrd="0" destOrd="0" parTransId="{FA4C1D34-977B-4411-BFDF-DA2DFFAB97F3}" sibTransId="{7139F2CF-54A9-4ABC-8AC5-A90EB0D79E1F}"/>
    <dgm:cxn modelId="{A4A51F6A-CA5C-4A41-95A9-A8EADFF6997F}" type="presOf" srcId="{010FE494-4D2E-41D1-B72E-2B3A60E66F22}" destId="{472E2DED-D59B-4111-849C-6549B16D4ACB}" srcOrd="0" destOrd="0" presId="urn:microsoft.com/office/officeart/2018/5/layout/IconCircleLabelList"/>
    <dgm:cxn modelId="{506C9197-63FB-4083-8FC2-F5E2C8A02841}" type="presOf" srcId="{723C9CF9-FA2F-4A6E-8CD8-F824C2D8D5B7}" destId="{D53CB8BD-7E76-4C79-B649-312BD07D4E5F}" srcOrd="0" destOrd="0" presId="urn:microsoft.com/office/officeart/2018/5/layout/IconCircleLabelList"/>
    <dgm:cxn modelId="{B16652B4-BAE2-4F32-897A-28E2C800314B}" type="presOf" srcId="{9C101549-7D32-4311-8115-19C44E53F396}" destId="{6AE0BEDD-DC89-47F3-B8AB-20F7D6688E31}" srcOrd="0" destOrd="0" presId="urn:microsoft.com/office/officeart/2018/5/layout/IconCircleLabelList"/>
    <dgm:cxn modelId="{3E4C6EB6-82A6-4ACF-937C-239DD8630AB1}" type="presOf" srcId="{D19BE704-7924-46EF-B834-094255646BFF}" destId="{94E0F05A-2F16-4137-A0B6-6685AE73F622}" srcOrd="0" destOrd="0" presId="urn:microsoft.com/office/officeart/2018/5/layout/IconCircleLabelList"/>
    <dgm:cxn modelId="{AA6913D1-2ED3-46C7-ACA8-516CFA2FABB9}" srcId="{9C101549-7D32-4311-8115-19C44E53F396}" destId="{010FE494-4D2E-41D1-B72E-2B3A60E66F22}" srcOrd="2" destOrd="0" parTransId="{889AE30E-01FB-4101-A85B-26EDD0F46F13}" sibTransId="{5F9458DB-B6EB-4DDC-BD45-A36768B64B7A}"/>
    <dgm:cxn modelId="{E128BBD9-D8B4-444E-8BA6-64A7664DBA18}" srcId="{9C101549-7D32-4311-8115-19C44E53F396}" destId="{723C9CF9-FA2F-4A6E-8CD8-F824C2D8D5B7}" srcOrd="1" destOrd="0" parTransId="{C2DAFCA7-CE2C-4546-920B-3F04F4E196D6}" sibTransId="{E09C4786-E1C1-498E-B221-D78F0B0C6D81}"/>
    <dgm:cxn modelId="{F3518B9C-9F66-4A39-8036-4B74ABF60FEB}" type="presParOf" srcId="{6AE0BEDD-DC89-47F3-B8AB-20F7D6688E31}" destId="{EF206128-1184-44C8-9818-C9B2D58D5867}" srcOrd="0" destOrd="0" presId="urn:microsoft.com/office/officeart/2018/5/layout/IconCircleLabelList"/>
    <dgm:cxn modelId="{A9B4AC24-13B5-47B4-B8B8-B89BF6C7B4F2}" type="presParOf" srcId="{EF206128-1184-44C8-9818-C9B2D58D5867}" destId="{3DC3BCE1-DAA6-48E8-AAD8-7C285B142E74}" srcOrd="0" destOrd="0" presId="urn:microsoft.com/office/officeart/2018/5/layout/IconCircleLabelList"/>
    <dgm:cxn modelId="{9928CD6D-E3AB-4E57-8A24-F6D6A23B5BF6}" type="presParOf" srcId="{EF206128-1184-44C8-9818-C9B2D58D5867}" destId="{0F90F5A4-FC81-46F8-9347-F9FFFCD1359A}" srcOrd="1" destOrd="0" presId="urn:microsoft.com/office/officeart/2018/5/layout/IconCircleLabelList"/>
    <dgm:cxn modelId="{CC9C3A89-9AA4-4D2B-833C-1CE1315C6854}" type="presParOf" srcId="{EF206128-1184-44C8-9818-C9B2D58D5867}" destId="{3E1BC1F2-0281-4167-9C0E-5777588D4BBB}" srcOrd="2" destOrd="0" presId="urn:microsoft.com/office/officeart/2018/5/layout/IconCircleLabelList"/>
    <dgm:cxn modelId="{95193F13-CAF8-4D1D-A7F2-B9C69358F873}" type="presParOf" srcId="{EF206128-1184-44C8-9818-C9B2D58D5867}" destId="{94E0F05A-2F16-4137-A0B6-6685AE73F622}" srcOrd="3" destOrd="0" presId="urn:microsoft.com/office/officeart/2018/5/layout/IconCircleLabelList"/>
    <dgm:cxn modelId="{7BC53455-7C8A-41F0-9D65-A6EDA29887BA}" type="presParOf" srcId="{6AE0BEDD-DC89-47F3-B8AB-20F7D6688E31}" destId="{9CE93416-583A-4A00-A703-95C0F4CE563D}" srcOrd="1" destOrd="0" presId="urn:microsoft.com/office/officeart/2018/5/layout/IconCircleLabelList"/>
    <dgm:cxn modelId="{A93AFA0B-1B27-48D3-B587-3BC888480CB6}" type="presParOf" srcId="{6AE0BEDD-DC89-47F3-B8AB-20F7D6688E31}" destId="{8C287DC6-4826-4202-834E-FB69E8B12A80}" srcOrd="2" destOrd="0" presId="urn:microsoft.com/office/officeart/2018/5/layout/IconCircleLabelList"/>
    <dgm:cxn modelId="{4575EBC8-B892-4256-9376-E1E7570E941C}" type="presParOf" srcId="{8C287DC6-4826-4202-834E-FB69E8B12A80}" destId="{AB21ACFE-7593-4268-BEEB-DAA423F1AA28}" srcOrd="0" destOrd="0" presId="urn:microsoft.com/office/officeart/2018/5/layout/IconCircleLabelList"/>
    <dgm:cxn modelId="{C6CBFEE9-90D5-4DE8-A558-DDEA89B479DD}" type="presParOf" srcId="{8C287DC6-4826-4202-834E-FB69E8B12A80}" destId="{A609AD14-AA34-4988-B5C7-121D8FEF6807}" srcOrd="1" destOrd="0" presId="urn:microsoft.com/office/officeart/2018/5/layout/IconCircleLabelList"/>
    <dgm:cxn modelId="{E961AEBD-0F8A-4551-9FFF-135AC90D14F6}" type="presParOf" srcId="{8C287DC6-4826-4202-834E-FB69E8B12A80}" destId="{1E5A584C-4714-4051-8CB9-F5991E04D732}" srcOrd="2" destOrd="0" presId="urn:microsoft.com/office/officeart/2018/5/layout/IconCircleLabelList"/>
    <dgm:cxn modelId="{5EC4E05C-F4A1-4A3A-A5C8-E6F25D4E9C7F}" type="presParOf" srcId="{8C287DC6-4826-4202-834E-FB69E8B12A80}" destId="{D53CB8BD-7E76-4C79-B649-312BD07D4E5F}" srcOrd="3" destOrd="0" presId="urn:microsoft.com/office/officeart/2018/5/layout/IconCircleLabelList"/>
    <dgm:cxn modelId="{3A21DE6D-5E46-4FBD-8097-05D8EE3F60D2}" type="presParOf" srcId="{6AE0BEDD-DC89-47F3-B8AB-20F7D6688E31}" destId="{4E98BE58-7557-4B9C-A10B-68DBBEB3DC48}" srcOrd="3" destOrd="0" presId="urn:microsoft.com/office/officeart/2018/5/layout/IconCircleLabelList"/>
    <dgm:cxn modelId="{2EBD8CB7-E530-462F-840F-01C68FE9C3F7}" type="presParOf" srcId="{6AE0BEDD-DC89-47F3-B8AB-20F7D6688E31}" destId="{B07B707F-7794-4CF3-BA95-056A9A4D85E2}" srcOrd="4" destOrd="0" presId="urn:microsoft.com/office/officeart/2018/5/layout/IconCircleLabelList"/>
    <dgm:cxn modelId="{8C177E82-B49A-4516-A7BF-9592A0F762BD}" type="presParOf" srcId="{B07B707F-7794-4CF3-BA95-056A9A4D85E2}" destId="{61C7709F-A28E-474A-8DDE-EDCCC45E5792}" srcOrd="0" destOrd="0" presId="urn:microsoft.com/office/officeart/2018/5/layout/IconCircleLabelList"/>
    <dgm:cxn modelId="{C18F4CC3-15E9-4E03-B675-74494378F522}" type="presParOf" srcId="{B07B707F-7794-4CF3-BA95-056A9A4D85E2}" destId="{C61A0F0D-1C45-4E0E-8327-F77426BB2F79}" srcOrd="1" destOrd="0" presId="urn:microsoft.com/office/officeart/2018/5/layout/IconCircleLabelList"/>
    <dgm:cxn modelId="{B417840F-778A-4A8F-B613-E9AADAD662B9}" type="presParOf" srcId="{B07B707F-7794-4CF3-BA95-056A9A4D85E2}" destId="{D720C98B-AA60-4C12-BC99-AD3B16241CF6}" srcOrd="2" destOrd="0" presId="urn:microsoft.com/office/officeart/2018/5/layout/IconCircleLabelList"/>
    <dgm:cxn modelId="{0C0F9DDF-DBF6-4016-8D8C-FE5A22DE607D}" type="presParOf" srcId="{B07B707F-7794-4CF3-BA95-056A9A4D85E2}" destId="{472E2DED-D59B-4111-849C-6549B16D4AC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F3FFA1-B338-414C-B982-4CB89E268422}" type="doc">
      <dgm:prSet loTypeId="urn:microsoft.com/office/officeart/2016/7/layout/BasicLinearProcessNumbered" loCatId="process" qsTypeId="urn:microsoft.com/office/officeart/2005/8/quickstyle/simple4" qsCatId="simple" csTypeId="urn:microsoft.com/office/officeart/2005/8/colors/colorful1" csCatId="colorful" phldr="1"/>
      <dgm:spPr/>
      <dgm:t>
        <a:bodyPr/>
        <a:lstStyle/>
        <a:p>
          <a:endParaRPr lang="en-US"/>
        </a:p>
      </dgm:t>
    </dgm:pt>
    <dgm:pt modelId="{0951A67B-C5AB-45CF-83B6-FAA18923D498}">
      <dgm:prSet/>
      <dgm:spPr/>
      <dgm:t>
        <a:bodyPr/>
        <a:lstStyle/>
        <a:p>
          <a:r>
            <a:rPr lang="en-US"/>
            <a:t>Adding a column to keep track of the initial contact after the service request was created</a:t>
          </a:r>
        </a:p>
      </dgm:t>
    </dgm:pt>
    <dgm:pt modelId="{D8BE473E-5C34-4DEB-B9C7-C9009EB683C8}" type="parTrans" cxnId="{D1AD6D2E-570E-44E9-B7A1-C96E4F6D8541}">
      <dgm:prSet/>
      <dgm:spPr/>
      <dgm:t>
        <a:bodyPr/>
        <a:lstStyle/>
        <a:p>
          <a:endParaRPr lang="en-US"/>
        </a:p>
      </dgm:t>
    </dgm:pt>
    <dgm:pt modelId="{63A8892A-4EF4-4A8F-B587-23C2EB6D783E}" type="sibTrans" cxnId="{D1AD6D2E-570E-44E9-B7A1-C96E4F6D8541}">
      <dgm:prSet phldrT="1" phldr="0"/>
      <dgm:spPr/>
      <dgm:t>
        <a:bodyPr/>
        <a:lstStyle/>
        <a:p>
          <a:r>
            <a:rPr lang="en-US"/>
            <a:t>1</a:t>
          </a:r>
        </a:p>
      </dgm:t>
    </dgm:pt>
    <dgm:pt modelId="{6F006590-7E81-4D63-B872-5FA5B328D34C}">
      <dgm:prSet/>
      <dgm:spPr/>
      <dgm:t>
        <a:bodyPr/>
        <a:lstStyle/>
        <a:p>
          <a:r>
            <a:rPr lang="en-US" dirty="0"/>
            <a:t>Adding a column with the date the request was closed and a success</a:t>
          </a:r>
        </a:p>
      </dgm:t>
    </dgm:pt>
    <dgm:pt modelId="{4D525FF2-8470-4655-82F0-1F748729D4BE}" type="parTrans" cxnId="{EC08E3DD-D235-418F-BDDD-EBFFD76E477E}">
      <dgm:prSet/>
      <dgm:spPr/>
      <dgm:t>
        <a:bodyPr/>
        <a:lstStyle/>
        <a:p>
          <a:endParaRPr lang="en-US"/>
        </a:p>
      </dgm:t>
    </dgm:pt>
    <dgm:pt modelId="{59C22194-9EF2-4B48-B78A-E947BE144DDD}" type="sibTrans" cxnId="{EC08E3DD-D235-418F-BDDD-EBFFD76E477E}">
      <dgm:prSet phldrT="2" phldr="0"/>
      <dgm:spPr/>
      <dgm:t>
        <a:bodyPr/>
        <a:lstStyle/>
        <a:p>
          <a:r>
            <a:rPr lang="en-US"/>
            <a:t>2</a:t>
          </a:r>
        </a:p>
      </dgm:t>
    </dgm:pt>
    <dgm:pt modelId="{035F69C0-5170-114B-88C3-AA7BCFDE9940}">
      <dgm:prSet/>
      <dgm:spPr/>
      <dgm:t>
        <a:bodyPr/>
        <a:lstStyle/>
        <a:p>
          <a:r>
            <a:rPr lang="en-US" dirty="0"/>
            <a:t>Separating the Status column to be a concise status, adding another column where the follow up steps (if applicable) can have more detail.</a:t>
          </a:r>
        </a:p>
      </dgm:t>
    </dgm:pt>
    <dgm:pt modelId="{8A864BDD-3A17-4244-8555-00350CBD1F1F}" type="parTrans" cxnId="{CD53DC3C-62BA-3F4F-9622-A2D1AAE09231}">
      <dgm:prSet/>
      <dgm:spPr/>
      <dgm:t>
        <a:bodyPr/>
        <a:lstStyle/>
        <a:p>
          <a:endParaRPr lang="en-US"/>
        </a:p>
      </dgm:t>
    </dgm:pt>
    <dgm:pt modelId="{E828F2EA-6D8A-C843-AF67-9CBF80FCAAB2}" type="sibTrans" cxnId="{CD53DC3C-62BA-3F4F-9622-A2D1AAE09231}">
      <dgm:prSet phldrT="3" phldr="0"/>
      <dgm:spPr/>
      <dgm:t>
        <a:bodyPr/>
        <a:lstStyle/>
        <a:p>
          <a:r>
            <a:rPr lang="en-US"/>
            <a:t>3</a:t>
          </a:r>
        </a:p>
      </dgm:t>
    </dgm:pt>
    <dgm:pt modelId="{189F4CB2-2482-2D49-A08C-48756BBF407C}" type="pres">
      <dgm:prSet presAssocID="{72F3FFA1-B338-414C-B982-4CB89E268422}" presName="Name0" presStyleCnt="0">
        <dgm:presLayoutVars>
          <dgm:animLvl val="lvl"/>
          <dgm:resizeHandles val="exact"/>
        </dgm:presLayoutVars>
      </dgm:prSet>
      <dgm:spPr/>
    </dgm:pt>
    <dgm:pt modelId="{91C3678D-13E1-9E46-B898-BC07C4155973}" type="pres">
      <dgm:prSet presAssocID="{0951A67B-C5AB-45CF-83B6-FAA18923D498}" presName="compositeNode" presStyleCnt="0">
        <dgm:presLayoutVars>
          <dgm:bulletEnabled val="1"/>
        </dgm:presLayoutVars>
      </dgm:prSet>
      <dgm:spPr/>
    </dgm:pt>
    <dgm:pt modelId="{40E2E324-33CF-C247-97DA-DCB49C4D1898}" type="pres">
      <dgm:prSet presAssocID="{0951A67B-C5AB-45CF-83B6-FAA18923D498}" presName="bgRect" presStyleLbl="bgAccFollowNode1" presStyleIdx="0" presStyleCnt="3"/>
      <dgm:spPr/>
    </dgm:pt>
    <dgm:pt modelId="{A2E4FAEB-4949-E141-851A-572D57862179}" type="pres">
      <dgm:prSet presAssocID="{63A8892A-4EF4-4A8F-B587-23C2EB6D783E}" presName="sibTransNodeCircle" presStyleLbl="alignNode1" presStyleIdx="0" presStyleCnt="6">
        <dgm:presLayoutVars>
          <dgm:chMax val="0"/>
          <dgm:bulletEnabled/>
        </dgm:presLayoutVars>
      </dgm:prSet>
      <dgm:spPr/>
    </dgm:pt>
    <dgm:pt modelId="{733F4570-6829-A742-A461-21A8633321B2}" type="pres">
      <dgm:prSet presAssocID="{0951A67B-C5AB-45CF-83B6-FAA18923D498}" presName="bottomLine" presStyleLbl="alignNode1" presStyleIdx="1" presStyleCnt="6">
        <dgm:presLayoutVars/>
      </dgm:prSet>
      <dgm:spPr/>
    </dgm:pt>
    <dgm:pt modelId="{BBD31F2A-CF64-6846-A30C-15737C42B7F0}" type="pres">
      <dgm:prSet presAssocID="{0951A67B-C5AB-45CF-83B6-FAA18923D498}" presName="nodeText" presStyleLbl="bgAccFollowNode1" presStyleIdx="0" presStyleCnt="3">
        <dgm:presLayoutVars>
          <dgm:bulletEnabled val="1"/>
        </dgm:presLayoutVars>
      </dgm:prSet>
      <dgm:spPr/>
    </dgm:pt>
    <dgm:pt modelId="{C0C9395F-4602-E240-8A40-B81AB722FC42}" type="pres">
      <dgm:prSet presAssocID="{63A8892A-4EF4-4A8F-B587-23C2EB6D783E}" presName="sibTrans" presStyleCnt="0"/>
      <dgm:spPr/>
    </dgm:pt>
    <dgm:pt modelId="{0F4B21EA-1AA7-374D-902B-28EA02F88C74}" type="pres">
      <dgm:prSet presAssocID="{6F006590-7E81-4D63-B872-5FA5B328D34C}" presName="compositeNode" presStyleCnt="0">
        <dgm:presLayoutVars>
          <dgm:bulletEnabled val="1"/>
        </dgm:presLayoutVars>
      </dgm:prSet>
      <dgm:spPr/>
    </dgm:pt>
    <dgm:pt modelId="{0DA1C514-0A02-6046-B0C3-F567D901019A}" type="pres">
      <dgm:prSet presAssocID="{6F006590-7E81-4D63-B872-5FA5B328D34C}" presName="bgRect" presStyleLbl="bgAccFollowNode1" presStyleIdx="1" presStyleCnt="3"/>
      <dgm:spPr/>
    </dgm:pt>
    <dgm:pt modelId="{5AA7C933-4399-C64E-B601-F955A8A8EF08}" type="pres">
      <dgm:prSet presAssocID="{59C22194-9EF2-4B48-B78A-E947BE144DDD}" presName="sibTransNodeCircle" presStyleLbl="alignNode1" presStyleIdx="2" presStyleCnt="6">
        <dgm:presLayoutVars>
          <dgm:chMax val="0"/>
          <dgm:bulletEnabled/>
        </dgm:presLayoutVars>
      </dgm:prSet>
      <dgm:spPr/>
    </dgm:pt>
    <dgm:pt modelId="{57BD5128-EC4E-A944-99B7-33E99B74DA3A}" type="pres">
      <dgm:prSet presAssocID="{6F006590-7E81-4D63-B872-5FA5B328D34C}" presName="bottomLine" presStyleLbl="alignNode1" presStyleIdx="3" presStyleCnt="6">
        <dgm:presLayoutVars/>
      </dgm:prSet>
      <dgm:spPr/>
    </dgm:pt>
    <dgm:pt modelId="{5D2832B7-D98C-BC4B-8B24-4E29BB614C30}" type="pres">
      <dgm:prSet presAssocID="{6F006590-7E81-4D63-B872-5FA5B328D34C}" presName="nodeText" presStyleLbl="bgAccFollowNode1" presStyleIdx="1" presStyleCnt="3">
        <dgm:presLayoutVars>
          <dgm:bulletEnabled val="1"/>
        </dgm:presLayoutVars>
      </dgm:prSet>
      <dgm:spPr/>
    </dgm:pt>
    <dgm:pt modelId="{A347F238-8A76-734F-B200-8A09C39FAB41}" type="pres">
      <dgm:prSet presAssocID="{59C22194-9EF2-4B48-B78A-E947BE144DDD}" presName="sibTrans" presStyleCnt="0"/>
      <dgm:spPr/>
    </dgm:pt>
    <dgm:pt modelId="{4AEE54FF-903B-6C4C-AEA7-DB2405A0CAED}" type="pres">
      <dgm:prSet presAssocID="{035F69C0-5170-114B-88C3-AA7BCFDE9940}" presName="compositeNode" presStyleCnt="0">
        <dgm:presLayoutVars>
          <dgm:bulletEnabled val="1"/>
        </dgm:presLayoutVars>
      </dgm:prSet>
      <dgm:spPr/>
    </dgm:pt>
    <dgm:pt modelId="{E1DE979A-D95B-C840-8A77-23CC5FFBE3E4}" type="pres">
      <dgm:prSet presAssocID="{035F69C0-5170-114B-88C3-AA7BCFDE9940}" presName="bgRect" presStyleLbl="bgAccFollowNode1" presStyleIdx="2" presStyleCnt="3"/>
      <dgm:spPr/>
    </dgm:pt>
    <dgm:pt modelId="{3ADF8B9C-EDBD-2D4B-BCA9-8010E208A442}" type="pres">
      <dgm:prSet presAssocID="{E828F2EA-6D8A-C843-AF67-9CBF80FCAAB2}" presName="sibTransNodeCircle" presStyleLbl="alignNode1" presStyleIdx="4" presStyleCnt="6">
        <dgm:presLayoutVars>
          <dgm:chMax val="0"/>
          <dgm:bulletEnabled/>
        </dgm:presLayoutVars>
      </dgm:prSet>
      <dgm:spPr/>
    </dgm:pt>
    <dgm:pt modelId="{01075533-13C5-5842-A617-C9B842A1709F}" type="pres">
      <dgm:prSet presAssocID="{035F69C0-5170-114B-88C3-AA7BCFDE9940}" presName="bottomLine" presStyleLbl="alignNode1" presStyleIdx="5" presStyleCnt="6">
        <dgm:presLayoutVars/>
      </dgm:prSet>
      <dgm:spPr/>
    </dgm:pt>
    <dgm:pt modelId="{5AC0D440-1913-AA46-85EA-4EFD46C133A5}" type="pres">
      <dgm:prSet presAssocID="{035F69C0-5170-114B-88C3-AA7BCFDE9940}" presName="nodeText" presStyleLbl="bgAccFollowNode1" presStyleIdx="2" presStyleCnt="3">
        <dgm:presLayoutVars>
          <dgm:bulletEnabled val="1"/>
        </dgm:presLayoutVars>
      </dgm:prSet>
      <dgm:spPr/>
    </dgm:pt>
  </dgm:ptLst>
  <dgm:cxnLst>
    <dgm:cxn modelId="{67DAC905-8173-6A45-BA56-876C88F8A8C4}" type="presOf" srcId="{0951A67B-C5AB-45CF-83B6-FAA18923D498}" destId="{40E2E324-33CF-C247-97DA-DCB49C4D1898}" srcOrd="0" destOrd="0" presId="urn:microsoft.com/office/officeart/2016/7/layout/BasicLinearProcessNumbered"/>
    <dgm:cxn modelId="{11E8F109-09F6-F641-AAFB-D779091F9A91}" type="presOf" srcId="{E828F2EA-6D8A-C843-AF67-9CBF80FCAAB2}" destId="{3ADF8B9C-EDBD-2D4B-BCA9-8010E208A442}" srcOrd="0" destOrd="0" presId="urn:microsoft.com/office/officeart/2016/7/layout/BasicLinearProcessNumbered"/>
    <dgm:cxn modelId="{D1AD6D2E-570E-44E9-B7A1-C96E4F6D8541}" srcId="{72F3FFA1-B338-414C-B982-4CB89E268422}" destId="{0951A67B-C5AB-45CF-83B6-FAA18923D498}" srcOrd="0" destOrd="0" parTransId="{D8BE473E-5C34-4DEB-B9C7-C9009EB683C8}" sibTransId="{63A8892A-4EF4-4A8F-B587-23C2EB6D783E}"/>
    <dgm:cxn modelId="{CD53DC3C-62BA-3F4F-9622-A2D1AAE09231}" srcId="{72F3FFA1-B338-414C-B982-4CB89E268422}" destId="{035F69C0-5170-114B-88C3-AA7BCFDE9940}" srcOrd="2" destOrd="0" parTransId="{8A864BDD-3A17-4244-8555-00350CBD1F1F}" sibTransId="{E828F2EA-6D8A-C843-AF67-9CBF80FCAAB2}"/>
    <dgm:cxn modelId="{FE5E8562-84E5-7D44-B33B-C832CD7B47D6}" type="presOf" srcId="{0951A67B-C5AB-45CF-83B6-FAA18923D498}" destId="{BBD31F2A-CF64-6846-A30C-15737C42B7F0}" srcOrd="1" destOrd="0" presId="urn:microsoft.com/office/officeart/2016/7/layout/BasicLinearProcessNumbered"/>
    <dgm:cxn modelId="{1D563E87-A06C-574A-8CBA-9185AABECC54}" type="presOf" srcId="{59C22194-9EF2-4B48-B78A-E947BE144DDD}" destId="{5AA7C933-4399-C64E-B601-F955A8A8EF08}" srcOrd="0" destOrd="0" presId="urn:microsoft.com/office/officeart/2016/7/layout/BasicLinearProcessNumbered"/>
    <dgm:cxn modelId="{FA0F3794-C0C8-9946-9F2C-CB3A69987A8B}" type="presOf" srcId="{6F006590-7E81-4D63-B872-5FA5B328D34C}" destId="{0DA1C514-0A02-6046-B0C3-F567D901019A}" srcOrd="0" destOrd="0" presId="urn:microsoft.com/office/officeart/2016/7/layout/BasicLinearProcessNumbered"/>
    <dgm:cxn modelId="{D484E8B1-24FA-AE4A-AAB3-B39F67D1BBEF}" type="presOf" srcId="{63A8892A-4EF4-4A8F-B587-23C2EB6D783E}" destId="{A2E4FAEB-4949-E141-851A-572D57862179}" srcOrd="0" destOrd="0" presId="urn:microsoft.com/office/officeart/2016/7/layout/BasicLinearProcessNumbered"/>
    <dgm:cxn modelId="{C66F75BB-D875-C74E-AD36-0EB4BE9635BD}" type="presOf" srcId="{035F69C0-5170-114B-88C3-AA7BCFDE9940}" destId="{5AC0D440-1913-AA46-85EA-4EFD46C133A5}" srcOrd="1" destOrd="0" presId="urn:microsoft.com/office/officeart/2016/7/layout/BasicLinearProcessNumbered"/>
    <dgm:cxn modelId="{CC75ADDA-0E4C-BC4E-A4B3-9BABC4DB4316}" type="presOf" srcId="{72F3FFA1-B338-414C-B982-4CB89E268422}" destId="{189F4CB2-2482-2D49-A08C-48756BBF407C}" srcOrd="0" destOrd="0" presId="urn:microsoft.com/office/officeart/2016/7/layout/BasicLinearProcessNumbered"/>
    <dgm:cxn modelId="{EC08E3DD-D235-418F-BDDD-EBFFD76E477E}" srcId="{72F3FFA1-B338-414C-B982-4CB89E268422}" destId="{6F006590-7E81-4D63-B872-5FA5B328D34C}" srcOrd="1" destOrd="0" parTransId="{4D525FF2-8470-4655-82F0-1F748729D4BE}" sibTransId="{59C22194-9EF2-4B48-B78A-E947BE144DDD}"/>
    <dgm:cxn modelId="{BE3FC5EF-B2C7-7B4B-A61E-1BBD811EEB7B}" type="presOf" srcId="{6F006590-7E81-4D63-B872-5FA5B328D34C}" destId="{5D2832B7-D98C-BC4B-8B24-4E29BB614C30}" srcOrd="1" destOrd="0" presId="urn:microsoft.com/office/officeart/2016/7/layout/BasicLinearProcessNumbered"/>
    <dgm:cxn modelId="{86B7F3F5-2B7A-1646-885F-4F066BFF0C69}" type="presOf" srcId="{035F69C0-5170-114B-88C3-AA7BCFDE9940}" destId="{E1DE979A-D95B-C840-8A77-23CC5FFBE3E4}" srcOrd="0" destOrd="0" presId="urn:microsoft.com/office/officeart/2016/7/layout/BasicLinearProcessNumbered"/>
    <dgm:cxn modelId="{4F6D9225-EBF4-C942-A9E0-A554ADAFB27C}" type="presParOf" srcId="{189F4CB2-2482-2D49-A08C-48756BBF407C}" destId="{91C3678D-13E1-9E46-B898-BC07C4155973}" srcOrd="0" destOrd="0" presId="urn:microsoft.com/office/officeart/2016/7/layout/BasicLinearProcessNumbered"/>
    <dgm:cxn modelId="{0F425A46-4E71-6F44-8246-D52F0B864E6D}" type="presParOf" srcId="{91C3678D-13E1-9E46-B898-BC07C4155973}" destId="{40E2E324-33CF-C247-97DA-DCB49C4D1898}" srcOrd="0" destOrd="0" presId="urn:microsoft.com/office/officeart/2016/7/layout/BasicLinearProcessNumbered"/>
    <dgm:cxn modelId="{2D8A33CA-5B7B-834B-828A-4BDC77112164}" type="presParOf" srcId="{91C3678D-13E1-9E46-B898-BC07C4155973}" destId="{A2E4FAEB-4949-E141-851A-572D57862179}" srcOrd="1" destOrd="0" presId="urn:microsoft.com/office/officeart/2016/7/layout/BasicLinearProcessNumbered"/>
    <dgm:cxn modelId="{75BB4E97-BA56-694F-B04C-1B249733C538}" type="presParOf" srcId="{91C3678D-13E1-9E46-B898-BC07C4155973}" destId="{733F4570-6829-A742-A461-21A8633321B2}" srcOrd="2" destOrd="0" presId="urn:microsoft.com/office/officeart/2016/7/layout/BasicLinearProcessNumbered"/>
    <dgm:cxn modelId="{4F135692-2CA8-7447-8A17-FB02A63C55BA}" type="presParOf" srcId="{91C3678D-13E1-9E46-B898-BC07C4155973}" destId="{BBD31F2A-CF64-6846-A30C-15737C42B7F0}" srcOrd="3" destOrd="0" presId="urn:microsoft.com/office/officeart/2016/7/layout/BasicLinearProcessNumbered"/>
    <dgm:cxn modelId="{F4723F11-54A4-1A46-9042-5F91E5A6AEA2}" type="presParOf" srcId="{189F4CB2-2482-2D49-A08C-48756BBF407C}" destId="{C0C9395F-4602-E240-8A40-B81AB722FC42}" srcOrd="1" destOrd="0" presId="urn:microsoft.com/office/officeart/2016/7/layout/BasicLinearProcessNumbered"/>
    <dgm:cxn modelId="{C8290626-8460-8241-822B-F7C0156C0A9A}" type="presParOf" srcId="{189F4CB2-2482-2D49-A08C-48756BBF407C}" destId="{0F4B21EA-1AA7-374D-902B-28EA02F88C74}" srcOrd="2" destOrd="0" presId="urn:microsoft.com/office/officeart/2016/7/layout/BasicLinearProcessNumbered"/>
    <dgm:cxn modelId="{859905AE-79A5-E240-BA65-5F0E58F2ED1A}" type="presParOf" srcId="{0F4B21EA-1AA7-374D-902B-28EA02F88C74}" destId="{0DA1C514-0A02-6046-B0C3-F567D901019A}" srcOrd="0" destOrd="0" presId="urn:microsoft.com/office/officeart/2016/7/layout/BasicLinearProcessNumbered"/>
    <dgm:cxn modelId="{20009E48-7C4A-F744-8F4A-2E4B3AEFE1DA}" type="presParOf" srcId="{0F4B21EA-1AA7-374D-902B-28EA02F88C74}" destId="{5AA7C933-4399-C64E-B601-F955A8A8EF08}" srcOrd="1" destOrd="0" presId="urn:microsoft.com/office/officeart/2016/7/layout/BasicLinearProcessNumbered"/>
    <dgm:cxn modelId="{E40C75C1-B02D-4440-B00D-BD26A1A9536D}" type="presParOf" srcId="{0F4B21EA-1AA7-374D-902B-28EA02F88C74}" destId="{57BD5128-EC4E-A944-99B7-33E99B74DA3A}" srcOrd="2" destOrd="0" presId="urn:microsoft.com/office/officeart/2016/7/layout/BasicLinearProcessNumbered"/>
    <dgm:cxn modelId="{D19905E3-A947-0F46-8ED3-77A74D9D1BEF}" type="presParOf" srcId="{0F4B21EA-1AA7-374D-902B-28EA02F88C74}" destId="{5D2832B7-D98C-BC4B-8B24-4E29BB614C30}" srcOrd="3" destOrd="0" presId="urn:microsoft.com/office/officeart/2016/7/layout/BasicLinearProcessNumbered"/>
    <dgm:cxn modelId="{DE288168-3AAD-5C4F-844C-ED871F9963A2}" type="presParOf" srcId="{189F4CB2-2482-2D49-A08C-48756BBF407C}" destId="{A347F238-8A76-734F-B200-8A09C39FAB41}" srcOrd="3" destOrd="0" presId="urn:microsoft.com/office/officeart/2016/7/layout/BasicLinearProcessNumbered"/>
    <dgm:cxn modelId="{4B80C496-1C77-524E-8202-83968363B29A}" type="presParOf" srcId="{189F4CB2-2482-2D49-A08C-48756BBF407C}" destId="{4AEE54FF-903B-6C4C-AEA7-DB2405A0CAED}" srcOrd="4" destOrd="0" presId="urn:microsoft.com/office/officeart/2016/7/layout/BasicLinearProcessNumbered"/>
    <dgm:cxn modelId="{3A7899B4-8D95-9742-AAEC-97D046A25D71}" type="presParOf" srcId="{4AEE54FF-903B-6C4C-AEA7-DB2405A0CAED}" destId="{E1DE979A-D95B-C840-8A77-23CC5FFBE3E4}" srcOrd="0" destOrd="0" presId="urn:microsoft.com/office/officeart/2016/7/layout/BasicLinearProcessNumbered"/>
    <dgm:cxn modelId="{2322DAFE-A5E5-594E-A6D5-A6D49D50F6B0}" type="presParOf" srcId="{4AEE54FF-903B-6C4C-AEA7-DB2405A0CAED}" destId="{3ADF8B9C-EDBD-2D4B-BCA9-8010E208A442}" srcOrd="1" destOrd="0" presId="urn:microsoft.com/office/officeart/2016/7/layout/BasicLinearProcessNumbered"/>
    <dgm:cxn modelId="{0D12BE1D-0612-044D-940C-EE6360337D88}" type="presParOf" srcId="{4AEE54FF-903B-6C4C-AEA7-DB2405A0CAED}" destId="{01075533-13C5-5842-A617-C9B842A1709F}" srcOrd="2" destOrd="0" presId="urn:microsoft.com/office/officeart/2016/7/layout/BasicLinearProcessNumbered"/>
    <dgm:cxn modelId="{23F1E6BC-26BB-9F4B-B495-BDC9165F1F70}" type="presParOf" srcId="{4AEE54FF-903B-6C4C-AEA7-DB2405A0CAED}" destId="{5AC0D440-1913-AA46-85EA-4EFD46C133A5}" srcOrd="3" destOrd="0" presId="urn:microsoft.com/office/officeart/2016/7/layout/BasicLinear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3BCE1-DAA6-48E8-AAD8-7C285B142E74}">
      <dsp:nvSpPr>
        <dsp:cNvPr id="0" name=""/>
        <dsp:cNvSpPr/>
      </dsp:nvSpPr>
      <dsp:spPr>
        <a:xfrm>
          <a:off x="639687" y="376613"/>
          <a:ext cx="1715625" cy="17156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0F5A4-FC81-46F8-9347-F9FFFCD1359A}">
      <dsp:nvSpPr>
        <dsp:cNvPr id="0" name=""/>
        <dsp:cNvSpPr/>
      </dsp:nvSpPr>
      <dsp:spPr>
        <a:xfrm>
          <a:off x="1005312" y="742238"/>
          <a:ext cx="984375" cy="984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E0F05A-2F16-4137-A0B6-6685AE73F622}">
      <dsp:nvSpPr>
        <dsp:cNvPr id="0" name=""/>
        <dsp:cNvSpPr/>
      </dsp:nvSpPr>
      <dsp:spPr>
        <a:xfrm>
          <a:off x="91250"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The top service requests were Electrical systems, Heating, and Plumbing.</a:t>
          </a:r>
        </a:p>
      </dsp:txBody>
      <dsp:txXfrm>
        <a:off x="91250" y="2626613"/>
        <a:ext cx="2812500" cy="720000"/>
      </dsp:txXfrm>
    </dsp:sp>
    <dsp:sp modelId="{AB21ACFE-7593-4268-BEEB-DAA423F1AA28}">
      <dsp:nvSpPr>
        <dsp:cNvPr id="0" name=""/>
        <dsp:cNvSpPr/>
      </dsp:nvSpPr>
      <dsp:spPr>
        <a:xfrm>
          <a:off x="3944375" y="376613"/>
          <a:ext cx="1715625" cy="17156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9AD14-AA34-4988-B5C7-121D8FEF6807}">
      <dsp:nvSpPr>
        <dsp:cNvPr id="0" name=""/>
        <dsp:cNvSpPr/>
      </dsp:nvSpPr>
      <dsp:spPr>
        <a:xfrm>
          <a:off x="4310000" y="742238"/>
          <a:ext cx="984375" cy="984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3CB8BD-7E76-4C79-B649-312BD07D4E5F}">
      <dsp:nvSpPr>
        <dsp:cNvPr id="0" name=""/>
        <dsp:cNvSpPr/>
      </dsp:nvSpPr>
      <dsp:spPr>
        <a:xfrm>
          <a:off x="3395937"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Total hours spent on completed requests was 4 hours.</a:t>
          </a:r>
        </a:p>
      </dsp:txBody>
      <dsp:txXfrm>
        <a:off x="3395937" y="2626613"/>
        <a:ext cx="2812500" cy="720000"/>
      </dsp:txXfrm>
    </dsp:sp>
    <dsp:sp modelId="{61C7709F-A28E-474A-8DDE-EDCCC45E5792}">
      <dsp:nvSpPr>
        <dsp:cNvPr id="0" name=""/>
        <dsp:cNvSpPr/>
      </dsp:nvSpPr>
      <dsp:spPr>
        <a:xfrm>
          <a:off x="7249062" y="376613"/>
          <a:ext cx="1715625" cy="171562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1A0F0D-1C45-4E0E-8327-F77426BB2F79}">
      <dsp:nvSpPr>
        <dsp:cNvPr id="0" name=""/>
        <dsp:cNvSpPr/>
      </dsp:nvSpPr>
      <dsp:spPr>
        <a:xfrm>
          <a:off x="7614687" y="742238"/>
          <a:ext cx="984375" cy="984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2E2DED-D59B-4111-849C-6549B16D4ACB}">
      <dsp:nvSpPr>
        <dsp:cNvPr id="0" name=""/>
        <dsp:cNvSpPr/>
      </dsp:nvSpPr>
      <dsp:spPr>
        <a:xfrm>
          <a:off x="6700625" y="2626613"/>
          <a:ext cx="28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Total hours estimated across open/scheduled requests is 15 hours.</a:t>
          </a:r>
        </a:p>
      </dsp:txBody>
      <dsp:txXfrm>
        <a:off x="6700625" y="2626613"/>
        <a:ext cx="28125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E2E324-33CF-C247-97DA-DCB49C4D1898}">
      <dsp:nvSpPr>
        <dsp:cNvPr id="0" name=""/>
        <dsp:cNvSpPr/>
      </dsp:nvSpPr>
      <dsp:spPr>
        <a:xfrm>
          <a:off x="0" y="1016693"/>
          <a:ext cx="2011415" cy="2815981"/>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818" tIns="330200" rIns="156818" bIns="330200" numCol="1" spcCol="1270" anchor="t" anchorCtr="0">
          <a:noAutofit/>
        </a:bodyPr>
        <a:lstStyle/>
        <a:p>
          <a:pPr marL="0" lvl="0" indent="0" algn="l" defTabSz="533400">
            <a:lnSpc>
              <a:spcPct val="90000"/>
            </a:lnSpc>
            <a:spcBef>
              <a:spcPct val="0"/>
            </a:spcBef>
            <a:spcAft>
              <a:spcPct val="35000"/>
            </a:spcAft>
            <a:buNone/>
          </a:pPr>
          <a:r>
            <a:rPr lang="en-US" sz="1200" kern="1200"/>
            <a:t>Adding a column to keep track of the initial contact after the service request was created</a:t>
          </a:r>
        </a:p>
      </dsp:txBody>
      <dsp:txXfrm>
        <a:off x="0" y="2086766"/>
        <a:ext cx="2011415" cy="1689588"/>
      </dsp:txXfrm>
    </dsp:sp>
    <dsp:sp modelId="{A2E4FAEB-4949-E141-851A-572D57862179}">
      <dsp:nvSpPr>
        <dsp:cNvPr id="0" name=""/>
        <dsp:cNvSpPr/>
      </dsp:nvSpPr>
      <dsp:spPr>
        <a:xfrm>
          <a:off x="583310" y="1298291"/>
          <a:ext cx="844794" cy="844794"/>
        </a:xfrm>
        <a:prstGeom prst="ellipse">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65863" tIns="12700" rIns="65863" bIns="12700" numCol="1" spcCol="1270" anchor="ctr" anchorCtr="0">
          <a:noAutofit/>
        </a:bodyPr>
        <a:lstStyle/>
        <a:p>
          <a:pPr marL="0" lvl="0" indent="0" algn="ctr" defTabSz="1911350">
            <a:lnSpc>
              <a:spcPct val="90000"/>
            </a:lnSpc>
            <a:spcBef>
              <a:spcPct val="0"/>
            </a:spcBef>
            <a:spcAft>
              <a:spcPct val="35000"/>
            </a:spcAft>
            <a:buNone/>
          </a:pPr>
          <a:r>
            <a:rPr lang="en-US" sz="4300" kern="1200"/>
            <a:t>1</a:t>
          </a:r>
        </a:p>
      </dsp:txBody>
      <dsp:txXfrm>
        <a:off x="707027" y="1422008"/>
        <a:ext cx="597360" cy="597360"/>
      </dsp:txXfrm>
    </dsp:sp>
    <dsp:sp modelId="{733F4570-6829-A742-A461-21A8633321B2}">
      <dsp:nvSpPr>
        <dsp:cNvPr id="0" name=""/>
        <dsp:cNvSpPr/>
      </dsp:nvSpPr>
      <dsp:spPr>
        <a:xfrm>
          <a:off x="0" y="3832603"/>
          <a:ext cx="2011415" cy="72"/>
        </a:xfrm>
        <a:prstGeom prst="rect">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w="9525"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DA1C514-0A02-6046-B0C3-F567D901019A}">
      <dsp:nvSpPr>
        <dsp:cNvPr id="0" name=""/>
        <dsp:cNvSpPr/>
      </dsp:nvSpPr>
      <dsp:spPr>
        <a:xfrm>
          <a:off x="2212556" y="1016693"/>
          <a:ext cx="2011415" cy="2815981"/>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818" tIns="330200" rIns="156818" bIns="330200" numCol="1" spcCol="1270" anchor="t" anchorCtr="0">
          <a:noAutofit/>
        </a:bodyPr>
        <a:lstStyle/>
        <a:p>
          <a:pPr marL="0" lvl="0" indent="0" algn="l" defTabSz="533400">
            <a:lnSpc>
              <a:spcPct val="90000"/>
            </a:lnSpc>
            <a:spcBef>
              <a:spcPct val="0"/>
            </a:spcBef>
            <a:spcAft>
              <a:spcPct val="35000"/>
            </a:spcAft>
            <a:buNone/>
          </a:pPr>
          <a:r>
            <a:rPr lang="en-US" sz="1200" kern="1200" dirty="0"/>
            <a:t>Adding a column with the date the request was closed and a success</a:t>
          </a:r>
        </a:p>
      </dsp:txBody>
      <dsp:txXfrm>
        <a:off x="2212556" y="2086766"/>
        <a:ext cx="2011415" cy="1689588"/>
      </dsp:txXfrm>
    </dsp:sp>
    <dsp:sp modelId="{5AA7C933-4399-C64E-B601-F955A8A8EF08}">
      <dsp:nvSpPr>
        <dsp:cNvPr id="0" name=""/>
        <dsp:cNvSpPr/>
      </dsp:nvSpPr>
      <dsp:spPr>
        <a:xfrm>
          <a:off x="2795867" y="1298291"/>
          <a:ext cx="844794" cy="844794"/>
        </a:xfrm>
        <a:prstGeom prst="ellipse">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w="9525"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65863" tIns="12700" rIns="65863" bIns="12700" numCol="1" spcCol="1270" anchor="ctr" anchorCtr="0">
          <a:noAutofit/>
        </a:bodyPr>
        <a:lstStyle/>
        <a:p>
          <a:pPr marL="0" lvl="0" indent="0" algn="ctr" defTabSz="1911350">
            <a:lnSpc>
              <a:spcPct val="90000"/>
            </a:lnSpc>
            <a:spcBef>
              <a:spcPct val="0"/>
            </a:spcBef>
            <a:spcAft>
              <a:spcPct val="35000"/>
            </a:spcAft>
            <a:buNone/>
          </a:pPr>
          <a:r>
            <a:rPr lang="en-US" sz="4300" kern="1200"/>
            <a:t>2</a:t>
          </a:r>
        </a:p>
      </dsp:txBody>
      <dsp:txXfrm>
        <a:off x="2919584" y="1422008"/>
        <a:ext cx="597360" cy="597360"/>
      </dsp:txXfrm>
    </dsp:sp>
    <dsp:sp modelId="{57BD5128-EC4E-A944-99B7-33E99B74DA3A}">
      <dsp:nvSpPr>
        <dsp:cNvPr id="0" name=""/>
        <dsp:cNvSpPr/>
      </dsp:nvSpPr>
      <dsp:spPr>
        <a:xfrm>
          <a:off x="2212556" y="3832603"/>
          <a:ext cx="2011415" cy="72"/>
        </a:xfrm>
        <a:prstGeom prst="rect">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1DE979A-D95B-C840-8A77-23CC5FFBE3E4}">
      <dsp:nvSpPr>
        <dsp:cNvPr id="0" name=""/>
        <dsp:cNvSpPr/>
      </dsp:nvSpPr>
      <dsp:spPr>
        <a:xfrm>
          <a:off x="4425113" y="1016693"/>
          <a:ext cx="2011415" cy="2815981"/>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818" tIns="330200" rIns="156818" bIns="330200" numCol="1" spcCol="1270" anchor="t" anchorCtr="0">
          <a:noAutofit/>
        </a:bodyPr>
        <a:lstStyle/>
        <a:p>
          <a:pPr marL="0" lvl="0" indent="0" algn="l" defTabSz="533400">
            <a:lnSpc>
              <a:spcPct val="90000"/>
            </a:lnSpc>
            <a:spcBef>
              <a:spcPct val="0"/>
            </a:spcBef>
            <a:spcAft>
              <a:spcPct val="35000"/>
            </a:spcAft>
            <a:buNone/>
          </a:pPr>
          <a:r>
            <a:rPr lang="en-US" sz="1200" kern="1200" dirty="0"/>
            <a:t>Separating the Status column to be a concise status, adding another column where the follow up steps (if applicable) can have more detail.</a:t>
          </a:r>
        </a:p>
      </dsp:txBody>
      <dsp:txXfrm>
        <a:off x="4425113" y="2086766"/>
        <a:ext cx="2011415" cy="1689588"/>
      </dsp:txXfrm>
    </dsp:sp>
    <dsp:sp modelId="{3ADF8B9C-EDBD-2D4B-BCA9-8010E208A442}">
      <dsp:nvSpPr>
        <dsp:cNvPr id="0" name=""/>
        <dsp:cNvSpPr/>
      </dsp:nvSpPr>
      <dsp:spPr>
        <a:xfrm>
          <a:off x="5008424" y="1298291"/>
          <a:ext cx="844794" cy="844794"/>
        </a:xfrm>
        <a:prstGeom prst="ellipse">
          <a:avLst/>
        </a:prstGeom>
        <a:gradFill rotWithShape="0">
          <a:gsLst>
            <a:gs pos="0">
              <a:schemeClr val="accent6">
                <a:hueOff val="0"/>
                <a:satOff val="0"/>
                <a:lumOff val="0"/>
                <a:alphaOff val="0"/>
                <a:tint val="98000"/>
                <a:satMod val="110000"/>
                <a:lumMod val="104000"/>
              </a:schemeClr>
            </a:gs>
            <a:gs pos="69000">
              <a:schemeClr val="accent6">
                <a:hueOff val="0"/>
                <a:satOff val="0"/>
                <a:lumOff val="0"/>
                <a:alphaOff val="0"/>
                <a:shade val="88000"/>
                <a:satMod val="130000"/>
                <a:lumMod val="92000"/>
              </a:schemeClr>
            </a:gs>
            <a:gs pos="100000">
              <a:schemeClr val="accent6">
                <a:hueOff val="0"/>
                <a:satOff val="0"/>
                <a:lumOff val="0"/>
                <a:alphaOff val="0"/>
                <a:shade val="78000"/>
                <a:satMod val="130000"/>
                <a:lumMod val="92000"/>
              </a:schemeClr>
            </a:gs>
          </a:gsLst>
          <a:lin ang="5400000" scaled="0"/>
        </a:gradFill>
        <a:ln w="9525" cap="flat"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65863" tIns="12700" rIns="65863" bIns="12700" numCol="1" spcCol="1270" anchor="ctr" anchorCtr="0">
          <a:noAutofit/>
        </a:bodyPr>
        <a:lstStyle/>
        <a:p>
          <a:pPr marL="0" lvl="0" indent="0" algn="ctr" defTabSz="1911350">
            <a:lnSpc>
              <a:spcPct val="90000"/>
            </a:lnSpc>
            <a:spcBef>
              <a:spcPct val="0"/>
            </a:spcBef>
            <a:spcAft>
              <a:spcPct val="35000"/>
            </a:spcAft>
            <a:buNone/>
          </a:pPr>
          <a:r>
            <a:rPr lang="en-US" sz="4300" kern="1200"/>
            <a:t>3</a:t>
          </a:r>
        </a:p>
      </dsp:txBody>
      <dsp:txXfrm>
        <a:off x="5132141" y="1422008"/>
        <a:ext cx="597360" cy="597360"/>
      </dsp:txXfrm>
    </dsp:sp>
    <dsp:sp modelId="{01075533-13C5-5842-A617-C9B842A1709F}">
      <dsp:nvSpPr>
        <dsp:cNvPr id="0" name=""/>
        <dsp:cNvSpPr/>
      </dsp:nvSpPr>
      <dsp:spPr>
        <a:xfrm>
          <a:off x="4425113" y="3832603"/>
          <a:ext cx="2011415" cy="72"/>
        </a:xfrm>
        <a:prstGeom prst="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114D00-72B0-4141-90B5-B3E81047C6EC}"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C0682-DE80-2041-B3AD-1E00C8DCCD63}" type="slidenum">
              <a:rPr lang="en-US" smtClean="0"/>
              <a:t>‹#›</a:t>
            </a:fld>
            <a:endParaRPr lang="en-US"/>
          </a:p>
        </p:txBody>
      </p:sp>
    </p:spTree>
    <p:extLst>
      <p:ext uri="{BB962C8B-B14F-4D97-AF65-F5344CB8AC3E}">
        <p14:creationId xmlns:p14="http://schemas.microsoft.com/office/powerpoint/2010/main" val="1665641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7C0682-DE80-2041-B3AD-1E00C8DCCD63}" type="slidenum">
              <a:rPr lang="en-US" smtClean="0"/>
              <a:t>1</a:t>
            </a:fld>
            <a:endParaRPr lang="en-US"/>
          </a:p>
        </p:txBody>
      </p:sp>
    </p:spTree>
    <p:extLst>
      <p:ext uri="{BB962C8B-B14F-4D97-AF65-F5344CB8AC3E}">
        <p14:creationId xmlns:p14="http://schemas.microsoft.com/office/powerpoint/2010/main" val="1675795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we are looking at is going to focus on getting insights on which service requests are the most common. This is helpful for Staywell properties so that they can maintain the necessary contacts to help resolve tickets quickly in order to maintain their reliability with the residents requesting the service.</a:t>
            </a:r>
          </a:p>
        </p:txBody>
      </p:sp>
      <p:sp>
        <p:nvSpPr>
          <p:cNvPr id="4" name="Slide Number Placeholder 3"/>
          <p:cNvSpPr>
            <a:spLocks noGrp="1"/>
          </p:cNvSpPr>
          <p:nvPr>
            <p:ph type="sldNum" sz="quarter" idx="5"/>
          </p:nvPr>
        </p:nvSpPr>
        <p:spPr/>
        <p:txBody>
          <a:bodyPr/>
          <a:lstStyle/>
          <a:p>
            <a:fld id="{337C0682-DE80-2041-B3AD-1E00C8DCCD63}" type="slidenum">
              <a:rPr lang="en-US" smtClean="0"/>
              <a:t>2</a:t>
            </a:fld>
            <a:endParaRPr lang="en-US"/>
          </a:p>
        </p:txBody>
      </p:sp>
    </p:spTree>
    <p:extLst>
      <p:ext uri="{BB962C8B-B14F-4D97-AF65-F5344CB8AC3E}">
        <p14:creationId xmlns:p14="http://schemas.microsoft.com/office/powerpoint/2010/main" val="3971053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presentation, we are working with the following tables. </a:t>
            </a:r>
          </a:p>
        </p:txBody>
      </p:sp>
      <p:sp>
        <p:nvSpPr>
          <p:cNvPr id="4" name="Slide Number Placeholder 3"/>
          <p:cNvSpPr>
            <a:spLocks noGrp="1"/>
          </p:cNvSpPr>
          <p:nvPr>
            <p:ph type="sldNum" sz="quarter" idx="5"/>
          </p:nvPr>
        </p:nvSpPr>
        <p:spPr/>
        <p:txBody>
          <a:bodyPr/>
          <a:lstStyle/>
          <a:p>
            <a:fld id="{337C0682-DE80-2041-B3AD-1E00C8DCCD63}" type="slidenum">
              <a:rPr lang="en-US" smtClean="0"/>
              <a:t>4</a:t>
            </a:fld>
            <a:endParaRPr lang="en-US"/>
          </a:p>
        </p:txBody>
      </p:sp>
    </p:spTree>
    <p:extLst>
      <p:ext uri="{BB962C8B-B14F-4D97-AF65-F5344CB8AC3E}">
        <p14:creationId xmlns:p14="http://schemas.microsoft.com/office/powerpoint/2010/main" val="1459961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categories types are as follows. These are the category types that were pulled from the table “SERVICE_CATEGORY” where the categories will be referred to by the category number, which is listed in parenthesis next to the category name to the right. The numbers inside the chart represent the count of the service category, with Electrical Systems, Plumbing, and Heating being the most frequent issues.</a:t>
            </a:r>
          </a:p>
          <a:p>
            <a:endParaRPr lang="en-US" dirty="0"/>
          </a:p>
          <a:p>
            <a:endParaRPr lang="en-US" dirty="0"/>
          </a:p>
          <a:p>
            <a:r>
              <a:rPr lang="en-US" dirty="0"/>
              <a:t>SELECT </a:t>
            </a:r>
          </a:p>
          <a:p>
            <a:r>
              <a:rPr lang="en-US" dirty="0"/>
              <a:t>    </a:t>
            </a:r>
            <a:r>
              <a:rPr lang="en-US" dirty="0" err="1"/>
              <a:t>sc.CATEGORY_DESCRIPTION</a:t>
            </a:r>
            <a:r>
              <a:rPr lang="en-US" dirty="0"/>
              <a:t>,</a:t>
            </a:r>
          </a:p>
          <a:p>
            <a:r>
              <a:rPr lang="en-US" dirty="0"/>
              <a:t>    COUNT(</a:t>
            </a:r>
            <a:r>
              <a:rPr lang="en-US" dirty="0" err="1"/>
              <a:t>sr.SERVICE_ID</a:t>
            </a:r>
            <a:r>
              <a:rPr lang="en-US" dirty="0"/>
              <a:t>) AS NUM_SERVICE_REQUESTS</a:t>
            </a:r>
          </a:p>
          <a:p>
            <a:r>
              <a:rPr lang="en-US" dirty="0"/>
              <a:t>FROM </a:t>
            </a:r>
          </a:p>
          <a:p>
            <a:r>
              <a:rPr lang="en-US" dirty="0"/>
              <a:t>    SERVICE_REQUEST </a:t>
            </a:r>
            <a:r>
              <a:rPr lang="en-US" dirty="0" err="1"/>
              <a:t>sr</a:t>
            </a:r>
            <a:endParaRPr lang="en-US" dirty="0"/>
          </a:p>
          <a:p>
            <a:r>
              <a:rPr lang="en-US" dirty="0"/>
              <a:t>JOIN </a:t>
            </a:r>
          </a:p>
          <a:p>
            <a:r>
              <a:rPr lang="en-US" dirty="0"/>
              <a:t>    SERVICE_CATEGORY </a:t>
            </a:r>
            <a:r>
              <a:rPr lang="en-US" dirty="0" err="1"/>
              <a:t>sc</a:t>
            </a:r>
            <a:endParaRPr lang="en-US" dirty="0"/>
          </a:p>
          <a:p>
            <a:r>
              <a:rPr lang="en-US" dirty="0"/>
              <a:t>ON </a:t>
            </a:r>
          </a:p>
          <a:p>
            <a:r>
              <a:rPr lang="en-US" dirty="0"/>
              <a:t>    </a:t>
            </a:r>
            <a:r>
              <a:rPr lang="en-US" dirty="0" err="1"/>
              <a:t>sr.CATEGORY_NUMBER</a:t>
            </a:r>
            <a:r>
              <a:rPr lang="en-US" dirty="0"/>
              <a:t> = </a:t>
            </a:r>
            <a:r>
              <a:rPr lang="en-US" dirty="0" err="1"/>
              <a:t>sc.CATEGORY_NUM</a:t>
            </a:r>
            <a:endParaRPr lang="en-US" dirty="0"/>
          </a:p>
          <a:p>
            <a:r>
              <a:rPr lang="en-US" dirty="0"/>
              <a:t>GROUP BY </a:t>
            </a:r>
          </a:p>
          <a:p>
            <a:r>
              <a:rPr lang="en-US" dirty="0"/>
              <a:t>    </a:t>
            </a:r>
            <a:r>
              <a:rPr lang="en-US" dirty="0" err="1"/>
              <a:t>sc.CATEGORY_DESCRIPTION</a:t>
            </a:r>
            <a:r>
              <a:rPr lang="en-US" dirty="0"/>
              <a:t>;</a:t>
            </a:r>
          </a:p>
        </p:txBody>
      </p:sp>
      <p:sp>
        <p:nvSpPr>
          <p:cNvPr id="4" name="Slide Number Placeholder 3"/>
          <p:cNvSpPr>
            <a:spLocks noGrp="1"/>
          </p:cNvSpPr>
          <p:nvPr>
            <p:ph type="sldNum" sz="quarter" idx="5"/>
          </p:nvPr>
        </p:nvSpPr>
        <p:spPr/>
        <p:txBody>
          <a:bodyPr/>
          <a:lstStyle/>
          <a:p>
            <a:fld id="{337C0682-DE80-2041-B3AD-1E00C8DCCD63}" type="slidenum">
              <a:rPr lang="en-US" smtClean="0"/>
              <a:t>5</a:t>
            </a:fld>
            <a:endParaRPr lang="en-US"/>
          </a:p>
        </p:txBody>
      </p:sp>
    </p:spTree>
    <p:extLst>
      <p:ext uri="{BB962C8B-B14F-4D97-AF65-F5344CB8AC3E}">
        <p14:creationId xmlns:p14="http://schemas.microsoft.com/office/powerpoint/2010/main" val="2741575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performed a join of the service request and service category tables to count the number of total hours spent in each category of service category. Plumbing category had 4 times as much time spent than the carpentry and heating category did, with the other categories with 0. Disclaimer, the categories with 0 total hours spent are currently in the status of “open, scheduled, or other”. The following slide will include a chart where we can take a look at the estimated hours.</a:t>
            </a:r>
          </a:p>
          <a:p>
            <a:endParaRPr lang="en-US" dirty="0"/>
          </a:p>
          <a:p>
            <a:r>
              <a:rPr lang="en-US" dirty="0"/>
              <a:t>SELECT </a:t>
            </a:r>
          </a:p>
          <a:p>
            <a:r>
              <a:rPr lang="en-US" dirty="0"/>
              <a:t>    </a:t>
            </a:r>
            <a:r>
              <a:rPr lang="en-US" dirty="0" err="1"/>
              <a:t>sr.CATEGORY_NUMBER</a:t>
            </a:r>
            <a:r>
              <a:rPr lang="en-US" dirty="0"/>
              <a:t>,</a:t>
            </a:r>
          </a:p>
          <a:p>
            <a:r>
              <a:rPr lang="en-US" dirty="0"/>
              <a:t>    </a:t>
            </a:r>
            <a:r>
              <a:rPr lang="en-US" dirty="0" err="1"/>
              <a:t>sc.CATEGORY_DESCRIPTION</a:t>
            </a:r>
            <a:r>
              <a:rPr lang="en-US" dirty="0"/>
              <a:t>,</a:t>
            </a:r>
          </a:p>
          <a:p>
            <a:r>
              <a:rPr lang="en-US" dirty="0"/>
              <a:t>    COUNT(*) AS </a:t>
            </a:r>
            <a:r>
              <a:rPr lang="en-US" dirty="0" err="1"/>
              <a:t>Total_Requests</a:t>
            </a:r>
            <a:r>
              <a:rPr lang="en-US" dirty="0"/>
              <a:t>,</a:t>
            </a:r>
          </a:p>
          <a:p>
            <a:r>
              <a:rPr lang="en-US" dirty="0"/>
              <a:t>    SUM(</a:t>
            </a:r>
            <a:r>
              <a:rPr lang="en-US" dirty="0" err="1"/>
              <a:t>sr.SPENT_HOURS</a:t>
            </a:r>
            <a:r>
              <a:rPr lang="en-US" dirty="0"/>
              <a:t>) AS </a:t>
            </a:r>
            <a:r>
              <a:rPr lang="en-US" dirty="0" err="1"/>
              <a:t>Total_Hours</a:t>
            </a:r>
            <a:r>
              <a:rPr lang="en-US" dirty="0"/>
              <a:t>,</a:t>
            </a:r>
          </a:p>
          <a:p>
            <a:r>
              <a:rPr lang="en-US" dirty="0"/>
              <a:t>	ROUND(AVG(</a:t>
            </a:r>
            <a:r>
              <a:rPr lang="en-US" dirty="0" err="1"/>
              <a:t>sr.SPENT_HOURS</a:t>
            </a:r>
            <a:r>
              <a:rPr lang="en-US" dirty="0"/>
              <a:t>), 2) AS </a:t>
            </a:r>
            <a:r>
              <a:rPr lang="en-US" dirty="0" err="1"/>
              <a:t>Avg_Hours</a:t>
            </a:r>
            <a:endParaRPr lang="en-US" dirty="0"/>
          </a:p>
          <a:p>
            <a:r>
              <a:rPr lang="en-US" dirty="0"/>
              <a:t>FROM SERVICE_REQUEST </a:t>
            </a:r>
            <a:r>
              <a:rPr lang="en-US" dirty="0" err="1"/>
              <a:t>sr</a:t>
            </a:r>
            <a:endParaRPr lang="en-US" dirty="0"/>
          </a:p>
          <a:p>
            <a:r>
              <a:rPr lang="en-US" dirty="0"/>
              <a:t>JOIN SERVICE_CATEGORY </a:t>
            </a:r>
            <a:r>
              <a:rPr lang="en-US" dirty="0" err="1"/>
              <a:t>sc</a:t>
            </a:r>
            <a:endParaRPr lang="en-US" dirty="0"/>
          </a:p>
          <a:p>
            <a:r>
              <a:rPr lang="en-US" dirty="0"/>
              <a:t>    ON </a:t>
            </a:r>
            <a:r>
              <a:rPr lang="en-US" dirty="0" err="1"/>
              <a:t>sr.CATEGORY_NUMBER</a:t>
            </a:r>
            <a:r>
              <a:rPr lang="en-US" dirty="0"/>
              <a:t> = </a:t>
            </a:r>
            <a:r>
              <a:rPr lang="en-US" dirty="0" err="1"/>
              <a:t>sc.CATEGORY_NUM</a:t>
            </a:r>
            <a:endParaRPr lang="en-US" dirty="0"/>
          </a:p>
          <a:p>
            <a:r>
              <a:rPr lang="en-US" dirty="0"/>
              <a:t>GROUP BY </a:t>
            </a:r>
            <a:r>
              <a:rPr lang="en-US" dirty="0" err="1"/>
              <a:t>sr.CATEGORY_NUMBER</a:t>
            </a:r>
            <a:r>
              <a:rPr lang="en-US" dirty="0"/>
              <a:t>, </a:t>
            </a:r>
            <a:r>
              <a:rPr lang="en-US" dirty="0" err="1"/>
              <a:t>sc.CATEGORY_DESCRIPTION</a:t>
            </a:r>
            <a:endParaRPr lang="en-US" dirty="0"/>
          </a:p>
          <a:p>
            <a:r>
              <a:rPr lang="en-US" dirty="0"/>
              <a:t>ORDER BY </a:t>
            </a:r>
            <a:r>
              <a:rPr lang="en-US" dirty="0" err="1"/>
              <a:t>Avg_Hours</a:t>
            </a:r>
            <a:r>
              <a:rPr lang="en-US" dirty="0"/>
              <a:t> DESC;</a:t>
            </a:r>
          </a:p>
        </p:txBody>
      </p:sp>
      <p:sp>
        <p:nvSpPr>
          <p:cNvPr id="4" name="Slide Number Placeholder 3"/>
          <p:cNvSpPr>
            <a:spLocks noGrp="1"/>
          </p:cNvSpPr>
          <p:nvPr>
            <p:ph type="sldNum" sz="quarter" idx="5"/>
          </p:nvPr>
        </p:nvSpPr>
        <p:spPr/>
        <p:txBody>
          <a:bodyPr/>
          <a:lstStyle/>
          <a:p>
            <a:fld id="{337C0682-DE80-2041-B3AD-1E00C8DCCD63}" type="slidenum">
              <a:rPr lang="en-US" smtClean="0"/>
              <a:t>6</a:t>
            </a:fld>
            <a:endParaRPr lang="en-US"/>
          </a:p>
        </p:txBody>
      </p:sp>
    </p:spTree>
    <p:extLst>
      <p:ext uri="{BB962C8B-B14F-4D97-AF65-F5344CB8AC3E}">
        <p14:creationId xmlns:p14="http://schemas.microsoft.com/office/powerpoint/2010/main" val="3103099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other service requests where the status was not set to closed. Here we can see that the cumulative estimated hours to be spent for these 4 service requests is an estimated 15 hours. We can also see that two residents have a request open, one that has been scheduled, and one that seems to be in the next steps of service completion. This chart was created by performing a join of the service request table and the service category table where the table was then sorted by category number, category description, and status.</a:t>
            </a:r>
          </a:p>
          <a:p>
            <a:endParaRPr lang="en-US" dirty="0"/>
          </a:p>
          <a:p>
            <a:r>
              <a:rPr lang="en-US" dirty="0"/>
              <a:t>SELECT </a:t>
            </a:r>
          </a:p>
          <a:p>
            <a:r>
              <a:rPr lang="en-US" dirty="0"/>
              <a:t>    </a:t>
            </a:r>
            <a:r>
              <a:rPr lang="en-US" dirty="0" err="1"/>
              <a:t>sr.CATEGORY_NUMBER</a:t>
            </a:r>
            <a:r>
              <a:rPr lang="en-US" dirty="0"/>
              <a:t>,</a:t>
            </a:r>
          </a:p>
          <a:p>
            <a:r>
              <a:rPr lang="en-US" dirty="0"/>
              <a:t>    </a:t>
            </a:r>
            <a:r>
              <a:rPr lang="en-US" dirty="0" err="1"/>
              <a:t>sc.CATEGORY_DESCRIPTION</a:t>
            </a:r>
            <a:r>
              <a:rPr lang="en-US" dirty="0"/>
              <a:t>,</a:t>
            </a:r>
          </a:p>
          <a:p>
            <a:r>
              <a:rPr lang="en-US" dirty="0"/>
              <a:t>    </a:t>
            </a:r>
            <a:r>
              <a:rPr lang="en-US" dirty="0" err="1"/>
              <a:t>sr.STATUS</a:t>
            </a:r>
            <a:r>
              <a:rPr lang="en-US" dirty="0"/>
              <a:t>,</a:t>
            </a:r>
          </a:p>
          <a:p>
            <a:r>
              <a:rPr lang="en-US" dirty="0"/>
              <a:t>    COUNT(*) AS </a:t>
            </a:r>
            <a:r>
              <a:rPr lang="en-US" dirty="0" err="1"/>
              <a:t>Total_Requests</a:t>
            </a:r>
            <a:r>
              <a:rPr lang="en-US" dirty="0"/>
              <a:t>,</a:t>
            </a:r>
          </a:p>
          <a:p>
            <a:r>
              <a:rPr lang="en-US" dirty="0"/>
              <a:t>    SUM(</a:t>
            </a:r>
            <a:r>
              <a:rPr lang="en-US" dirty="0" err="1"/>
              <a:t>sr.EST_HOURS</a:t>
            </a:r>
            <a:r>
              <a:rPr lang="en-US" dirty="0"/>
              <a:t>) AS </a:t>
            </a:r>
            <a:r>
              <a:rPr lang="en-US" dirty="0" err="1"/>
              <a:t>Total_EST_Hours</a:t>
            </a:r>
            <a:endParaRPr lang="en-US" dirty="0"/>
          </a:p>
          <a:p>
            <a:r>
              <a:rPr lang="en-US" dirty="0"/>
              <a:t>FROM SERVICE_REQUEST </a:t>
            </a:r>
            <a:r>
              <a:rPr lang="en-US" dirty="0" err="1"/>
              <a:t>sr</a:t>
            </a:r>
            <a:endParaRPr lang="en-US" dirty="0"/>
          </a:p>
          <a:p>
            <a:r>
              <a:rPr lang="en-US" dirty="0"/>
              <a:t>JOIN SERVICE_CATEGORY </a:t>
            </a:r>
            <a:r>
              <a:rPr lang="en-US" dirty="0" err="1"/>
              <a:t>sc</a:t>
            </a:r>
            <a:endParaRPr lang="en-US" dirty="0"/>
          </a:p>
          <a:p>
            <a:r>
              <a:rPr lang="en-US" dirty="0"/>
              <a:t>    ON </a:t>
            </a:r>
            <a:r>
              <a:rPr lang="en-US" dirty="0" err="1"/>
              <a:t>sr.CATEGORY_NUMBER</a:t>
            </a:r>
            <a:r>
              <a:rPr lang="en-US" dirty="0"/>
              <a:t> = </a:t>
            </a:r>
            <a:r>
              <a:rPr lang="en-US" dirty="0" err="1"/>
              <a:t>sc.CATEGORY_NUM</a:t>
            </a:r>
            <a:endParaRPr lang="en-US" dirty="0"/>
          </a:p>
          <a:p>
            <a:r>
              <a:rPr lang="en-US" dirty="0"/>
              <a:t>    WHERE SPENT_HOURS = 0</a:t>
            </a:r>
          </a:p>
          <a:p>
            <a:r>
              <a:rPr lang="en-US" dirty="0"/>
              <a:t>GROUP BY </a:t>
            </a:r>
            <a:r>
              <a:rPr lang="en-US" dirty="0" err="1"/>
              <a:t>sr.CATEGORY_NUMBER</a:t>
            </a:r>
            <a:r>
              <a:rPr lang="en-US" dirty="0"/>
              <a:t>, </a:t>
            </a:r>
            <a:r>
              <a:rPr lang="en-US" dirty="0" err="1"/>
              <a:t>sc.CATEGORY_DESCRIPTION</a:t>
            </a:r>
            <a:r>
              <a:rPr lang="en-US" dirty="0"/>
              <a:t>, STATUS</a:t>
            </a:r>
          </a:p>
          <a:p>
            <a:r>
              <a:rPr lang="en-US" dirty="0"/>
              <a:t>ORDER BY TOTAL_EST_HOURS DESC;</a:t>
            </a:r>
          </a:p>
        </p:txBody>
      </p:sp>
      <p:sp>
        <p:nvSpPr>
          <p:cNvPr id="4" name="Slide Number Placeholder 3"/>
          <p:cNvSpPr>
            <a:spLocks noGrp="1"/>
          </p:cNvSpPr>
          <p:nvPr>
            <p:ph type="sldNum" sz="quarter" idx="5"/>
          </p:nvPr>
        </p:nvSpPr>
        <p:spPr/>
        <p:txBody>
          <a:bodyPr/>
          <a:lstStyle/>
          <a:p>
            <a:fld id="{337C0682-DE80-2041-B3AD-1E00C8DCCD63}" type="slidenum">
              <a:rPr lang="en-US" smtClean="0"/>
              <a:t>7</a:t>
            </a:fld>
            <a:endParaRPr lang="en-US"/>
          </a:p>
        </p:txBody>
      </p:sp>
    </p:spTree>
    <p:extLst>
      <p:ext uri="{BB962C8B-B14F-4D97-AF65-F5344CB8AC3E}">
        <p14:creationId xmlns:p14="http://schemas.microsoft.com/office/powerpoint/2010/main" val="4176306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 bar chart to show the total count of requests in each category. The categories that were most frequent among the properties were electrical systems, heating, and plumbing issues.</a:t>
            </a:r>
          </a:p>
          <a:p>
            <a:endParaRPr lang="en-US" dirty="0"/>
          </a:p>
          <a:p>
            <a:r>
              <a:rPr lang="en-US" dirty="0"/>
              <a:t>SELECT </a:t>
            </a:r>
          </a:p>
          <a:p>
            <a:r>
              <a:rPr lang="en-US" dirty="0"/>
              <a:t>    </a:t>
            </a:r>
            <a:r>
              <a:rPr lang="en-US" dirty="0" err="1"/>
              <a:t>sr.CATEGORY_NUMBER</a:t>
            </a:r>
            <a:r>
              <a:rPr lang="en-US" dirty="0"/>
              <a:t>,</a:t>
            </a:r>
          </a:p>
          <a:p>
            <a:r>
              <a:rPr lang="en-US" dirty="0"/>
              <a:t>    </a:t>
            </a:r>
            <a:r>
              <a:rPr lang="en-US" dirty="0" err="1"/>
              <a:t>sc.CATEGORY_DESCRIPTION</a:t>
            </a:r>
            <a:r>
              <a:rPr lang="en-US" dirty="0"/>
              <a:t>,</a:t>
            </a:r>
          </a:p>
          <a:p>
            <a:r>
              <a:rPr lang="en-US" dirty="0"/>
              <a:t>    COUNT(*) AS </a:t>
            </a:r>
            <a:r>
              <a:rPr lang="en-US" dirty="0" err="1"/>
              <a:t>Total_Requests</a:t>
            </a:r>
            <a:r>
              <a:rPr lang="en-US" dirty="0"/>
              <a:t>,</a:t>
            </a:r>
          </a:p>
          <a:p>
            <a:r>
              <a:rPr lang="en-US" dirty="0"/>
              <a:t>    SUM(</a:t>
            </a:r>
            <a:r>
              <a:rPr lang="en-US" dirty="0" err="1"/>
              <a:t>sr.SPENT_HOURS</a:t>
            </a:r>
            <a:r>
              <a:rPr lang="en-US" dirty="0"/>
              <a:t>) AS </a:t>
            </a:r>
            <a:r>
              <a:rPr lang="en-US" dirty="0" err="1"/>
              <a:t>Total_Hours</a:t>
            </a:r>
            <a:r>
              <a:rPr lang="en-US" dirty="0"/>
              <a:t>,</a:t>
            </a:r>
          </a:p>
          <a:p>
            <a:r>
              <a:rPr lang="en-US" dirty="0"/>
              <a:t>	ROUND(AVG(</a:t>
            </a:r>
            <a:r>
              <a:rPr lang="en-US" dirty="0" err="1"/>
              <a:t>sr.SPENT_HOURS</a:t>
            </a:r>
            <a:r>
              <a:rPr lang="en-US" dirty="0"/>
              <a:t>), 2) AS </a:t>
            </a:r>
            <a:r>
              <a:rPr lang="en-US" dirty="0" err="1"/>
              <a:t>Avg_Hours</a:t>
            </a:r>
            <a:endParaRPr lang="en-US" dirty="0"/>
          </a:p>
          <a:p>
            <a:r>
              <a:rPr lang="en-US" dirty="0"/>
              <a:t>FROM SERVICE_REQUEST </a:t>
            </a:r>
            <a:r>
              <a:rPr lang="en-US" dirty="0" err="1"/>
              <a:t>sr</a:t>
            </a:r>
            <a:endParaRPr lang="en-US" dirty="0"/>
          </a:p>
          <a:p>
            <a:r>
              <a:rPr lang="en-US" dirty="0"/>
              <a:t>JOIN SERVICE_CATEGORY </a:t>
            </a:r>
            <a:r>
              <a:rPr lang="en-US" dirty="0" err="1"/>
              <a:t>sc</a:t>
            </a:r>
            <a:endParaRPr lang="en-US" dirty="0"/>
          </a:p>
          <a:p>
            <a:r>
              <a:rPr lang="en-US" dirty="0"/>
              <a:t>    ON </a:t>
            </a:r>
            <a:r>
              <a:rPr lang="en-US" dirty="0" err="1"/>
              <a:t>sr.CATEGORY_NUMBER</a:t>
            </a:r>
            <a:r>
              <a:rPr lang="en-US" dirty="0"/>
              <a:t> = </a:t>
            </a:r>
            <a:r>
              <a:rPr lang="en-US" dirty="0" err="1"/>
              <a:t>sc.CATEGORY_NUM</a:t>
            </a:r>
            <a:endParaRPr lang="en-US" dirty="0"/>
          </a:p>
          <a:p>
            <a:r>
              <a:rPr lang="en-US" dirty="0"/>
              <a:t>GROUP BY </a:t>
            </a:r>
            <a:r>
              <a:rPr lang="en-US" dirty="0" err="1"/>
              <a:t>sr.CATEGORY_NUMBER</a:t>
            </a:r>
            <a:r>
              <a:rPr lang="en-US" dirty="0"/>
              <a:t>, </a:t>
            </a:r>
            <a:r>
              <a:rPr lang="en-US" dirty="0" err="1"/>
              <a:t>sc.CATEGORY_DESCRIPTION</a:t>
            </a:r>
            <a:endParaRPr lang="en-US" dirty="0"/>
          </a:p>
          <a:p>
            <a:r>
              <a:rPr lang="en-US" dirty="0"/>
              <a:t>ORDER BY </a:t>
            </a:r>
            <a:r>
              <a:rPr lang="en-US" dirty="0" err="1"/>
              <a:t>Avg_Hours</a:t>
            </a:r>
            <a:r>
              <a:rPr lang="en-US" dirty="0"/>
              <a:t> DESC;</a:t>
            </a:r>
          </a:p>
        </p:txBody>
      </p:sp>
      <p:sp>
        <p:nvSpPr>
          <p:cNvPr id="4" name="Slide Number Placeholder 3"/>
          <p:cNvSpPr>
            <a:spLocks noGrp="1"/>
          </p:cNvSpPr>
          <p:nvPr>
            <p:ph type="sldNum" sz="quarter" idx="5"/>
          </p:nvPr>
        </p:nvSpPr>
        <p:spPr/>
        <p:txBody>
          <a:bodyPr/>
          <a:lstStyle/>
          <a:p>
            <a:fld id="{337C0682-DE80-2041-B3AD-1E00C8DCCD63}" type="slidenum">
              <a:rPr lang="en-US" smtClean="0"/>
              <a:t>8</a:t>
            </a:fld>
            <a:endParaRPr lang="en-US"/>
          </a:p>
        </p:txBody>
      </p:sp>
    </p:spTree>
    <p:extLst>
      <p:ext uri="{BB962C8B-B14F-4D97-AF65-F5344CB8AC3E}">
        <p14:creationId xmlns:p14="http://schemas.microsoft.com/office/powerpoint/2010/main" val="3949852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bar chart compiles a visual to see which owners have received the most requests, we can see that it was distributed mostly similar with Jakub Kowalczyk having one request per property that they own and Ceyda Aksoy having two requests in one property, and everyone else having one.</a:t>
            </a:r>
          </a:p>
          <a:p>
            <a:endParaRPr lang="en-US" dirty="0"/>
          </a:p>
          <a:p>
            <a:r>
              <a:rPr lang="en-US" dirty="0"/>
              <a:t>SELECT </a:t>
            </a:r>
          </a:p>
          <a:p>
            <a:r>
              <a:rPr lang="en-US" dirty="0"/>
              <a:t>    </a:t>
            </a:r>
            <a:r>
              <a:rPr lang="en-US" dirty="0" err="1"/>
              <a:t>o.OWNER_NUM</a:t>
            </a:r>
            <a:r>
              <a:rPr lang="en-US" dirty="0"/>
              <a:t>,</a:t>
            </a:r>
          </a:p>
          <a:p>
            <a:r>
              <a:rPr lang="en-US" dirty="0"/>
              <a:t>    </a:t>
            </a:r>
            <a:r>
              <a:rPr lang="en-US" dirty="0" err="1"/>
              <a:t>p.PROPERTY_ID</a:t>
            </a:r>
            <a:r>
              <a:rPr lang="en-US" dirty="0"/>
              <a:t>,</a:t>
            </a:r>
          </a:p>
          <a:p>
            <a:r>
              <a:rPr lang="en-US" dirty="0"/>
              <a:t>    CONCAT(</a:t>
            </a:r>
            <a:r>
              <a:rPr lang="en-US" dirty="0" err="1"/>
              <a:t>o.FIRST_NAME</a:t>
            </a:r>
            <a:r>
              <a:rPr lang="en-US" dirty="0"/>
              <a:t>, ' ', </a:t>
            </a:r>
            <a:r>
              <a:rPr lang="en-US" dirty="0" err="1"/>
              <a:t>o.LAST_NAME</a:t>
            </a:r>
            <a:r>
              <a:rPr lang="en-US" dirty="0"/>
              <a:t>) AS OWNER_NAME,</a:t>
            </a:r>
          </a:p>
          <a:p>
            <a:r>
              <a:rPr lang="en-US" dirty="0"/>
              <a:t>    COUNT(</a:t>
            </a:r>
            <a:r>
              <a:rPr lang="en-US" dirty="0" err="1"/>
              <a:t>sr.SERVICE_ID</a:t>
            </a:r>
            <a:r>
              <a:rPr lang="en-US" dirty="0"/>
              <a:t>) AS </a:t>
            </a:r>
            <a:r>
              <a:rPr lang="en-US" dirty="0" err="1"/>
              <a:t>Total_Requests</a:t>
            </a:r>
            <a:endParaRPr lang="en-US" dirty="0"/>
          </a:p>
          <a:p>
            <a:r>
              <a:rPr lang="en-US" dirty="0"/>
              <a:t>FROM OWNER o</a:t>
            </a:r>
          </a:p>
          <a:p>
            <a:r>
              <a:rPr lang="en-US" dirty="0"/>
              <a:t>JOIN PROPERTY p ON </a:t>
            </a:r>
            <a:r>
              <a:rPr lang="en-US" dirty="0" err="1"/>
              <a:t>o.OWNER_NUM</a:t>
            </a:r>
            <a:r>
              <a:rPr lang="en-US" dirty="0"/>
              <a:t> = </a:t>
            </a:r>
            <a:r>
              <a:rPr lang="en-US" dirty="0" err="1"/>
              <a:t>p.OWNER_NUM</a:t>
            </a:r>
            <a:endParaRPr lang="en-US" dirty="0"/>
          </a:p>
          <a:p>
            <a:r>
              <a:rPr lang="en-US" dirty="0"/>
              <a:t>JOIN SERVICE_REQUEST </a:t>
            </a:r>
            <a:r>
              <a:rPr lang="en-US" dirty="0" err="1"/>
              <a:t>sr</a:t>
            </a:r>
            <a:r>
              <a:rPr lang="en-US" dirty="0"/>
              <a:t> ON </a:t>
            </a:r>
            <a:r>
              <a:rPr lang="en-US" dirty="0" err="1"/>
              <a:t>p.PROPERTY_ID</a:t>
            </a:r>
            <a:r>
              <a:rPr lang="en-US" dirty="0"/>
              <a:t> = </a:t>
            </a:r>
            <a:r>
              <a:rPr lang="en-US" dirty="0" err="1"/>
              <a:t>sr.PROPERTY_ID</a:t>
            </a:r>
            <a:endParaRPr lang="en-US" dirty="0"/>
          </a:p>
          <a:p>
            <a:r>
              <a:rPr lang="en-US" dirty="0"/>
              <a:t>GROUP BY </a:t>
            </a:r>
            <a:r>
              <a:rPr lang="en-US" dirty="0" err="1"/>
              <a:t>o.OWNER_NUM</a:t>
            </a:r>
            <a:r>
              <a:rPr lang="en-US" dirty="0"/>
              <a:t>, OWNER_NAME, </a:t>
            </a:r>
            <a:r>
              <a:rPr lang="en-US" dirty="0" err="1"/>
              <a:t>p.PROPERTY_ID</a:t>
            </a:r>
            <a:endParaRPr lang="en-US" dirty="0"/>
          </a:p>
          <a:p>
            <a:r>
              <a:rPr lang="en-US" dirty="0"/>
              <a:t>ORDER BY </a:t>
            </a:r>
            <a:r>
              <a:rPr lang="en-US" dirty="0" err="1"/>
              <a:t>Total_Requests</a:t>
            </a:r>
            <a:r>
              <a:rPr lang="en-US" dirty="0"/>
              <a:t> DESC;</a:t>
            </a:r>
          </a:p>
        </p:txBody>
      </p:sp>
      <p:sp>
        <p:nvSpPr>
          <p:cNvPr id="4" name="Slide Number Placeholder 3"/>
          <p:cNvSpPr>
            <a:spLocks noGrp="1"/>
          </p:cNvSpPr>
          <p:nvPr>
            <p:ph type="sldNum" sz="quarter" idx="5"/>
          </p:nvPr>
        </p:nvSpPr>
        <p:spPr/>
        <p:txBody>
          <a:bodyPr/>
          <a:lstStyle/>
          <a:p>
            <a:fld id="{337C0682-DE80-2041-B3AD-1E00C8DCCD63}" type="slidenum">
              <a:rPr lang="en-US" smtClean="0"/>
              <a:t>9</a:t>
            </a:fld>
            <a:endParaRPr lang="en-US"/>
          </a:p>
        </p:txBody>
      </p:sp>
    </p:spTree>
    <p:extLst>
      <p:ext uri="{BB962C8B-B14F-4D97-AF65-F5344CB8AC3E}">
        <p14:creationId xmlns:p14="http://schemas.microsoft.com/office/powerpoint/2010/main" val="23098010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other factors to consider those being: the importance of resolving the service, the scheduling of the service with the resident, etc.</a:t>
            </a:r>
          </a:p>
        </p:txBody>
      </p:sp>
      <p:sp>
        <p:nvSpPr>
          <p:cNvPr id="4" name="Slide Number Placeholder 3"/>
          <p:cNvSpPr>
            <a:spLocks noGrp="1"/>
          </p:cNvSpPr>
          <p:nvPr>
            <p:ph type="sldNum" sz="quarter" idx="5"/>
          </p:nvPr>
        </p:nvSpPr>
        <p:spPr/>
        <p:txBody>
          <a:bodyPr/>
          <a:lstStyle/>
          <a:p>
            <a:fld id="{337C0682-DE80-2041-B3AD-1E00C8DCCD63}" type="slidenum">
              <a:rPr lang="en-US" smtClean="0"/>
              <a:t>10</a:t>
            </a:fld>
            <a:endParaRPr lang="en-US"/>
          </a:p>
        </p:txBody>
      </p:sp>
    </p:spTree>
    <p:extLst>
      <p:ext uri="{BB962C8B-B14F-4D97-AF65-F5344CB8AC3E}">
        <p14:creationId xmlns:p14="http://schemas.microsoft.com/office/powerpoint/2010/main" val="979894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Implications of the provided recommendations: once this is collected, the data can be used to track time it takes to schedule the initial visit, the time it takes for the actual service date, and then finally the day that the issue is resolved. The insights gained with this data will be ensuring residents are getting their issues resolved in a timely manner and to see where there can be improvements in the future where necessary. For the third recommendation, having a dedicated status column will help us have a clearer understanding of where the request is in the process instead of having the information all jumbled together.</a:t>
            </a:r>
          </a:p>
        </p:txBody>
      </p:sp>
      <p:sp>
        <p:nvSpPr>
          <p:cNvPr id="4" name="Slide Number Placeholder 3"/>
          <p:cNvSpPr>
            <a:spLocks noGrp="1"/>
          </p:cNvSpPr>
          <p:nvPr>
            <p:ph type="sldNum" sz="quarter" idx="5"/>
          </p:nvPr>
        </p:nvSpPr>
        <p:spPr/>
        <p:txBody>
          <a:bodyPr/>
          <a:lstStyle/>
          <a:p>
            <a:fld id="{337C0682-DE80-2041-B3AD-1E00C8DCCD63}" type="slidenum">
              <a:rPr lang="en-US" smtClean="0"/>
              <a:t>11</a:t>
            </a:fld>
            <a:endParaRPr lang="en-US"/>
          </a:p>
        </p:txBody>
      </p:sp>
    </p:spTree>
    <p:extLst>
      <p:ext uri="{BB962C8B-B14F-4D97-AF65-F5344CB8AC3E}">
        <p14:creationId xmlns:p14="http://schemas.microsoft.com/office/powerpoint/2010/main" val="1026317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41D242-379A-804B-93E8-62FEE23D498A}" type="datetimeFigureOut">
              <a:rPr lang="en-US" smtClean="0"/>
              <a:t>12/2/24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EBA3135-7B76-B24C-8E0D-A6D62070FCF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8326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1D242-379A-804B-93E8-62FEE23D498A}"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A3135-7B76-B24C-8E0D-A6D62070FCF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83327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41D242-379A-804B-93E8-62FEE23D498A}"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A3135-7B76-B24C-8E0D-A6D62070FCF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89811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41D242-379A-804B-93E8-62FEE23D498A}" type="datetimeFigureOut">
              <a:rPr lang="en-US" smtClean="0"/>
              <a:t>12/2/24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BA3135-7B76-B24C-8E0D-A6D62070FCF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77153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41D242-379A-804B-93E8-62FEE23D498A}" type="datetimeFigureOut">
              <a:rPr lang="en-US" smtClean="0"/>
              <a:t>12/2/24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BA3135-7B76-B24C-8E0D-A6D62070FCF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4246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41D242-379A-804B-93E8-62FEE23D498A}" type="datetimeFigureOut">
              <a:rPr lang="en-US" smtClean="0"/>
              <a:t>12/2/24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BA3135-7B76-B24C-8E0D-A6D62070FCF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0173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41D242-379A-804B-93E8-62FEE23D498A}" type="datetimeFigureOut">
              <a:rPr lang="en-US" smtClean="0"/>
              <a:t>12/2/24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BA3135-7B76-B24C-8E0D-A6D62070FCF1}" type="slidenum">
              <a:rPr lang="en-US" smtClean="0"/>
              <a:t>‹#›</a:t>
            </a:fld>
            <a:endParaRPr lang="en-US"/>
          </a:p>
        </p:txBody>
      </p:sp>
    </p:spTree>
    <p:extLst>
      <p:ext uri="{BB962C8B-B14F-4D97-AF65-F5344CB8AC3E}">
        <p14:creationId xmlns:p14="http://schemas.microsoft.com/office/powerpoint/2010/main" val="4058883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41D242-379A-804B-93E8-62FEE23D498A}" type="datetimeFigureOut">
              <a:rPr lang="en-US" smtClean="0"/>
              <a:t>12/2/24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BA3135-7B76-B24C-8E0D-A6D62070FCF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7936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641D242-379A-804B-93E8-62FEE23D498A}" type="datetimeFigureOut">
              <a:rPr lang="en-US" smtClean="0"/>
              <a:t>12/2/24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EBA3135-7B76-B24C-8E0D-A6D62070FCF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33627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1D242-379A-804B-93E8-62FEE23D498A}"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A3135-7B76-B24C-8E0D-A6D62070FCF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95721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41D242-379A-804B-93E8-62FEE23D498A}" type="datetimeFigureOut">
              <a:rPr lang="en-US" smtClean="0"/>
              <a:t>12/2/24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BA3135-7B76-B24C-8E0D-A6D62070FCF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44152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641D242-379A-804B-93E8-62FEE23D498A}" type="datetimeFigureOut">
              <a:rPr lang="en-US" smtClean="0"/>
              <a:t>12/2/24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EBA3135-7B76-B24C-8E0D-A6D62070FCF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1193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g"/><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F4773-008C-BDE7-2E46-AC3E61BFB447}"/>
              </a:ext>
            </a:extLst>
          </p:cNvPr>
          <p:cNvSpPr>
            <a:spLocks noGrp="1"/>
          </p:cNvSpPr>
          <p:nvPr>
            <p:ph type="ctrTitle"/>
          </p:nvPr>
        </p:nvSpPr>
        <p:spPr/>
        <p:txBody>
          <a:bodyPr>
            <a:normAutofit fontScale="90000"/>
          </a:bodyPr>
          <a:lstStyle/>
          <a:p>
            <a:r>
              <a:rPr lang="en-US" dirty="0">
                <a:latin typeface="Century Gothic" panose="020B0502020202020204" pitchFamily="34" charset="0"/>
              </a:rPr>
              <a:t>Analyzing Staywell Properties’ Service Requests</a:t>
            </a:r>
          </a:p>
        </p:txBody>
      </p:sp>
      <p:sp>
        <p:nvSpPr>
          <p:cNvPr id="3" name="Subtitle 2">
            <a:extLst>
              <a:ext uri="{FF2B5EF4-FFF2-40B4-BE49-F238E27FC236}">
                <a16:creationId xmlns:a16="http://schemas.microsoft.com/office/drawing/2014/main" id="{5A6A777F-114E-5762-C54F-3731E0DF1E76}"/>
              </a:ext>
            </a:extLst>
          </p:cNvPr>
          <p:cNvSpPr>
            <a:spLocks noGrp="1"/>
          </p:cNvSpPr>
          <p:nvPr>
            <p:ph type="subTitle" idx="1"/>
          </p:nvPr>
        </p:nvSpPr>
        <p:spPr/>
        <p:txBody>
          <a:bodyPr/>
          <a:lstStyle/>
          <a:p>
            <a:r>
              <a:rPr lang="en-US" dirty="0">
                <a:latin typeface="Century Gothic" panose="020B0502020202020204" pitchFamily="34" charset="0"/>
              </a:rPr>
              <a:t>Francine Diep</a:t>
            </a:r>
          </a:p>
        </p:txBody>
      </p:sp>
    </p:spTree>
    <p:extLst>
      <p:ext uri="{BB962C8B-B14F-4D97-AF65-F5344CB8AC3E}">
        <p14:creationId xmlns:p14="http://schemas.microsoft.com/office/powerpoint/2010/main" val="4237203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8FA2A-5DB3-7F76-9466-EC50C2DA0318}"/>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E008905E-8752-E2BC-479B-90E0806A90ED}"/>
              </a:ext>
            </a:extLst>
          </p:cNvPr>
          <p:cNvSpPr>
            <a:spLocks noGrp="1"/>
          </p:cNvSpPr>
          <p:nvPr>
            <p:ph idx="1"/>
          </p:nvPr>
        </p:nvSpPr>
        <p:spPr/>
        <p:txBody>
          <a:bodyPr>
            <a:normAutofit/>
          </a:bodyPr>
          <a:lstStyle/>
          <a:p>
            <a:r>
              <a:rPr lang="en-US" dirty="0">
                <a:latin typeface="Century Gothic" panose="020B0502020202020204" pitchFamily="34" charset="0"/>
              </a:rPr>
              <a:t>Explore and categorize the various types of service requests to identify common trends</a:t>
            </a:r>
          </a:p>
          <a:p>
            <a:r>
              <a:rPr lang="en-US" dirty="0">
                <a:latin typeface="Century Gothic" panose="020B0502020202020204" pitchFamily="34" charset="0"/>
              </a:rPr>
              <a:t>Determine which properties have required maintenance or services.</a:t>
            </a:r>
          </a:p>
          <a:p>
            <a:r>
              <a:rPr lang="en-US" dirty="0">
                <a:latin typeface="Century Gothic" panose="020B0502020202020204" pitchFamily="34" charset="0"/>
              </a:rPr>
              <a:t>Total number of service requests associated with each property owner.</a:t>
            </a:r>
          </a:p>
          <a:p>
            <a:r>
              <a:rPr lang="en-US" dirty="0">
                <a:latin typeface="Century Gothic" panose="020B0502020202020204" pitchFamily="34" charset="0"/>
              </a:rPr>
              <a:t>Evaluate the total time invested in addressing service requests by calculating the cumulative hours spent on open requests and completed requests.</a:t>
            </a:r>
            <a:endParaRPr lang="en-US" dirty="0">
              <a:latin typeface="Century Gothic" panose="020B0502020202020204" pitchFamily="34" charset="0"/>
              <a:cs typeface="Bangla Sangam MN" panose="02000000000000000000" pitchFamily="2" charset="0"/>
            </a:endParaRPr>
          </a:p>
        </p:txBody>
      </p:sp>
    </p:spTree>
    <p:extLst>
      <p:ext uri="{BB962C8B-B14F-4D97-AF65-F5344CB8AC3E}">
        <p14:creationId xmlns:p14="http://schemas.microsoft.com/office/powerpoint/2010/main" val="3038072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5724E7-7C97-0A02-C169-B07D6BA8A9AB}"/>
              </a:ext>
            </a:extLst>
          </p:cNvPr>
          <p:cNvSpPr>
            <a:spLocks noGrp="1"/>
          </p:cNvSpPr>
          <p:nvPr>
            <p:ph type="title"/>
          </p:nvPr>
        </p:nvSpPr>
        <p:spPr>
          <a:xfrm>
            <a:off x="844476" y="1600199"/>
            <a:ext cx="3539266" cy="4297680"/>
          </a:xfrm>
        </p:spPr>
        <p:txBody>
          <a:bodyPr anchor="ctr">
            <a:normAutofit/>
          </a:bodyPr>
          <a:lstStyle/>
          <a:p>
            <a:r>
              <a:rPr lang="en-US" dirty="0"/>
              <a:t>ABOUT THE DATA</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81781FF-5306-1C6F-8683-621C38C7FE7D}"/>
              </a:ext>
            </a:extLst>
          </p:cNvPr>
          <p:cNvSpPr>
            <a:spLocks noGrp="1"/>
          </p:cNvSpPr>
          <p:nvPr>
            <p:ph idx="1"/>
          </p:nvPr>
        </p:nvSpPr>
        <p:spPr>
          <a:xfrm>
            <a:off x="4924851" y="1600199"/>
            <a:ext cx="6130003" cy="4297680"/>
          </a:xfrm>
        </p:spPr>
        <p:txBody>
          <a:bodyPr anchor="ctr">
            <a:normAutofit/>
          </a:bodyPr>
          <a:lstStyle/>
          <a:p>
            <a:r>
              <a:rPr lang="en-US" dirty="0"/>
              <a:t>The data used for this analysis is split into 6 different tables. MySQL and R Studio were the platforms used to gather the data and create tables.</a:t>
            </a:r>
          </a:p>
        </p:txBody>
      </p:sp>
    </p:spTree>
    <p:extLst>
      <p:ext uri="{BB962C8B-B14F-4D97-AF65-F5344CB8AC3E}">
        <p14:creationId xmlns:p14="http://schemas.microsoft.com/office/powerpoint/2010/main" val="994552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3EC0-0615-5376-B3EC-505817665B37}"/>
              </a:ext>
            </a:extLst>
          </p:cNvPr>
          <p:cNvSpPr>
            <a:spLocks noGrp="1"/>
          </p:cNvSpPr>
          <p:nvPr>
            <p:ph type="title"/>
          </p:nvPr>
        </p:nvSpPr>
        <p:spPr/>
        <p:txBody>
          <a:bodyPr/>
          <a:lstStyle/>
          <a:p>
            <a:pPr algn="ctr"/>
            <a:r>
              <a:rPr lang="en-US" dirty="0"/>
              <a:t>Tables + descriptions</a:t>
            </a:r>
          </a:p>
        </p:txBody>
      </p:sp>
      <p:sp>
        <p:nvSpPr>
          <p:cNvPr id="4" name="Content Placeholder 2">
            <a:extLst>
              <a:ext uri="{FF2B5EF4-FFF2-40B4-BE49-F238E27FC236}">
                <a16:creationId xmlns:a16="http://schemas.microsoft.com/office/drawing/2014/main" id="{57B1D05B-8E9D-9B68-ED06-4AF7519E564E}"/>
              </a:ext>
            </a:extLst>
          </p:cNvPr>
          <p:cNvSpPr txBox="1">
            <a:spLocks/>
          </p:cNvSpPr>
          <p:nvPr/>
        </p:nvSpPr>
        <p:spPr>
          <a:xfrm>
            <a:off x="1582049" y="2083391"/>
            <a:ext cx="2304457" cy="3299229"/>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b="1" dirty="0"/>
              <a:t>OWNER</a:t>
            </a:r>
          </a:p>
          <a:p>
            <a:r>
              <a:rPr lang="en-US" dirty="0"/>
              <a:t>Owner number</a:t>
            </a:r>
          </a:p>
          <a:p>
            <a:r>
              <a:rPr lang="en-US" dirty="0"/>
              <a:t>Last name</a:t>
            </a:r>
          </a:p>
          <a:p>
            <a:r>
              <a:rPr lang="en-US" dirty="0"/>
              <a:t>First name</a:t>
            </a:r>
          </a:p>
          <a:p>
            <a:r>
              <a:rPr lang="en-US" dirty="0"/>
              <a:t>Address</a:t>
            </a:r>
          </a:p>
          <a:p>
            <a:r>
              <a:rPr lang="en-US" dirty="0"/>
              <a:t>City</a:t>
            </a:r>
          </a:p>
          <a:p>
            <a:r>
              <a:rPr lang="en-US" dirty="0"/>
              <a:t>State</a:t>
            </a:r>
          </a:p>
          <a:p>
            <a:r>
              <a:rPr lang="en-US" dirty="0"/>
              <a:t>Zip code</a:t>
            </a:r>
          </a:p>
        </p:txBody>
      </p:sp>
      <p:sp>
        <p:nvSpPr>
          <p:cNvPr id="6" name="Content Placeholder 2">
            <a:extLst>
              <a:ext uri="{FF2B5EF4-FFF2-40B4-BE49-F238E27FC236}">
                <a16:creationId xmlns:a16="http://schemas.microsoft.com/office/drawing/2014/main" id="{6677DAB2-62E4-B5F6-B47E-6CE657739AB7}"/>
              </a:ext>
            </a:extLst>
          </p:cNvPr>
          <p:cNvSpPr txBox="1">
            <a:spLocks/>
          </p:cNvSpPr>
          <p:nvPr/>
        </p:nvSpPr>
        <p:spPr>
          <a:xfrm>
            <a:off x="4782014" y="2086191"/>
            <a:ext cx="2627972" cy="343091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1800" b="1" dirty="0"/>
              <a:t>SERVICE_CATEGORY</a:t>
            </a:r>
          </a:p>
          <a:p>
            <a:r>
              <a:rPr lang="en-US" sz="1800" dirty="0"/>
              <a:t>Category number</a:t>
            </a:r>
          </a:p>
          <a:p>
            <a:r>
              <a:rPr lang="en-US" sz="1800" dirty="0"/>
              <a:t>Category description</a:t>
            </a:r>
          </a:p>
        </p:txBody>
      </p:sp>
      <p:sp>
        <p:nvSpPr>
          <p:cNvPr id="7" name="Content Placeholder 2">
            <a:extLst>
              <a:ext uri="{FF2B5EF4-FFF2-40B4-BE49-F238E27FC236}">
                <a16:creationId xmlns:a16="http://schemas.microsoft.com/office/drawing/2014/main" id="{1C5E54C6-2119-0E17-1F5C-89C08A8A86E9}"/>
              </a:ext>
            </a:extLst>
          </p:cNvPr>
          <p:cNvSpPr txBox="1">
            <a:spLocks/>
          </p:cNvSpPr>
          <p:nvPr/>
        </p:nvSpPr>
        <p:spPr>
          <a:xfrm>
            <a:off x="8305494" y="2083391"/>
            <a:ext cx="2749360" cy="3430911"/>
          </a:xfrm>
          <a:prstGeom prst="rect">
            <a:avLst/>
          </a:prstGeom>
        </p:spPr>
        <p:txBody>
          <a:bodyPr vert="horz" lIns="91440" tIns="45720" rIns="91440" bIns="45720" rtlCol="0" anchor="t">
            <a:normAutofit fontScale="700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0" indent="0">
              <a:buFont typeface="Arial" panose="020B0604020202020204" pitchFamily="34" charset="0"/>
              <a:buNone/>
            </a:pPr>
            <a:r>
              <a:rPr lang="en-US" sz="2300" b="1" dirty="0"/>
              <a:t>SERVICE_REQUEST</a:t>
            </a:r>
          </a:p>
          <a:p>
            <a:r>
              <a:rPr lang="en-US" dirty="0"/>
              <a:t>Service ID</a:t>
            </a:r>
          </a:p>
          <a:p>
            <a:r>
              <a:rPr lang="en-US" dirty="0"/>
              <a:t>Property ID</a:t>
            </a:r>
          </a:p>
          <a:p>
            <a:r>
              <a:rPr lang="en-US" dirty="0"/>
              <a:t>Category number</a:t>
            </a:r>
          </a:p>
          <a:p>
            <a:r>
              <a:rPr lang="en-US" dirty="0"/>
              <a:t>Office number</a:t>
            </a:r>
          </a:p>
          <a:p>
            <a:r>
              <a:rPr lang="en-US" dirty="0"/>
              <a:t>Description</a:t>
            </a:r>
          </a:p>
          <a:p>
            <a:r>
              <a:rPr lang="en-US" dirty="0"/>
              <a:t>Status</a:t>
            </a:r>
          </a:p>
          <a:p>
            <a:r>
              <a:rPr lang="en-US" dirty="0"/>
              <a:t>Estimated hours</a:t>
            </a:r>
          </a:p>
          <a:p>
            <a:r>
              <a:rPr lang="en-US" dirty="0"/>
              <a:t>Spent hours</a:t>
            </a:r>
          </a:p>
          <a:p>
            <a:r>
              <a:rPr lang="en-US" dirty="0"/>
              <a:t>Next service date</a:t>
            </a:r>
          </a:p>
        </p:txBody>
      </p:sp>
    </p:spTree>
    <p:extLst>
      <p:ext uri="{BB962C8B-B14F-4D97-AF65-F5344CB8AC3E}">
        <p14:creationId xmlns:p14="http://schemas.microsoft.com/office/powerpoint/2010/main" val="333303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67" name="Picture 66">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69" name="Straight Connector 68">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73" name="Rectangle 72">
            <a:extLst>
              <a:ext uri="{FF2B5EF4-FFF2-40B4-BE49-F238E27FC236}">
                <a16:creationId xmlns:a16="http://schemas.microsoft.com/office/drawing/2014/main" id="{2FA7AD0A-1871-4DF8-9235-F49D0513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6B04CFB-FAE5-47DD-9B3E-4E9BA7A89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7B92A135-D522-02C8-F56F-2BDCF34AE5E5}"/>
              </a:ext>
            </a:extLst>
          </p:cNvPr>
          <p:cNvSpPr>
            <a:spLocks noGrp="1"/>
          </p:cNvSpPr>
          <p:nvPr>
            <p:ph type="title"/>
          </p:nvPr>
        </p:nvSpPr>
        <p:spPr>
          <a:xfrm>
            <a:off x="659301" y="1474969"/>
            <a:ext cx="2823919" cy="1868760"/>
          </a:xfrm>
        </p:spPr>
        <p:txBody>
          <a:bodyPr vert="horz" lIns="91440" tIns="45720" rIns="91440" bIns="0" rtlCol="0" anchor="b">
            <a:normAutofit/>
          </a:bodyPr>
          <a:lstStyle/>
          <a:p>
            <a:r>
              <a:rPr lang="en-US" sz="3300"/>
              <a:t>What are the service categories?</a:t>
            </a:r>
          </a:p>
        </p:txBody>
      </p:sp>
      <p:cxnSp>
        <p:nvCxnSpPr>
          <p:cNvPr id="77" name="Straight Connector 76">
            <a:extLst>
              <a:ext uri="{FF2B5EF4-FFF2-40B4-BE49-F238E27FC236}">
                <a16:creationId xmlns:a16="http://schemas.microsoft.com/office/drawing/2014/main" id="{EE68D41B-9286-479F-9AB7-678C8E348D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9301" y="3528543"/>
            <a:ext cx="28239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79" name="Group 78">
            <a:extLst>
              <a:ext uri="{FF2B5EF4-FFF2-40B4-BE49-F238E27FC236}">
                <a16:creationId xmlns:a16="http://schemas.microsoft.com/office/drawing/2014/main" id="{E8ACF89C-CFC3-4D68-B3C4-2BEFB7BBE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80" name="Rectangle 79">
              <a:extLst>
                <a:ext uri="{FF2B5EF4-FFF2-40B4-BE49-F238E27FC236}">
                  <a16:creationId xmlns:a16="http://schemas.microsoft.com/office/drawing/2014/main" id="{3B770B7D-3C5C-4682-8DF0-20783592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A6893E11-7EC1-4EB6-A2A8-0B693F8FE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22F7FD7-8884-4FD5-95AB-0B5C6033A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487" y="977965"/>
            <a:ext cx="6615582"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Picture 84">
            <a:extLst>
              <a:ext uri="{FF2B5EF4-FFF2-40B4-BE49-F238E27FC236}">
                <a16:creationId xmlns:a16="http://schemas.microsoft.com/office/drawing/2014/main" id="{16EFE474-4FE0-4E8F-8F09-5ED2C9E76A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87" name="Straight Connector 86">
            <a:extLst>
              <a:ext uri="{FF2B5EF4-FFF2-40B4-BE49-F238E27FC236}">
                <a16:creationId xmlns:a16="http://schemas.microsoft.com/office/drawing/2014/main" id="{CF8B8C81-54DC-4AF5-B682-3A2C70A6B5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1" name="Content Placeholder 10" descr="A colorful circle with numbers and a white background&#10;&#10;Description automatically generated">
            <a:extLst>
              <a:ext uri="{FF2B5EF4-FFF2-40B4-BE49-F238E27FC236}">
                <a16:creationId xmlns:a16="http://schemas.microsoft.com/office/drawing/2014/main" id="{6F3B9C46-0528-25FE-752B-657CB741B38F}"/>
              </a:ext>
            </a:extLst>
          </p:cNvPr>
          <p:cNvPicPr>
            <a:picLocks noGrp="1" noChangeAspect="1"/>
          </p:cNvPicPr>
          <p:nvPr>
            <p:ph idx="1"/>
          </p:nvPr>
        </p:nvPicPr>
        <p:blipFill>
          <a:blip r:embed="rId4"/>
          <a:stretch>
            <a:fillRect/>
          </a:stretch>
        </p:blipFill>
        <p:spPr>
          <a:xfrm>
            <a:off x="4993509" y="958837"/>
            <a:ext cx="5526156" cy="4320122"/>
          </a:xfrm>
        </p:spPr>
      </p:pic>
    </p:spTree>
    <p:extLst>
      <p:ext uri="{BB962C8B-B14F-4D97-AF65-F5344CB8AC3E}">
        <p14:creationId xmlns:p14="http://schemas.microsoft.com/office/powerpoint/2010/main" val="90032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CE580D1-F917-4567-AFB4-99AA9B52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7" name="Picture 36">
            <a:extLst>
              <a:ext uri="{FF2B5EF4-FFF2-40B4-BE49-F238E27FC236}">
                <a16:creationId xmlns:a16="http://schemas.microsoft.com/office/drawing/2014/main" id="{1F5620B8-A2D8-4568-B566-F0453A0D916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9" name="Straight Connector 38">
            <a:extLst>
              <a:ext uri="{FF2B5EF4-FFF2-40B4-BE49-F238E27FC236}">
                <a16:creationId xmlns:a16="http://schemas.microsoft.com/office/drawing/2014/main" id="{1C7D2BA4-4B7A-4596-8BCC-5CF7154238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977F1E1-2B6F-4BB6-899F-67D8764D83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3" name="Rectangle 42">
            <a:extLst>
              <a:ext uri="{FF2B5EF4-FFF2-40B4-BE49-F238E27FC236}">
                <a16:creationId xmlns:a16="http://schemas.microsoft.com/office/drawing/2014/main" id="{ECF9E76A-BE1D-4850-B32D-718810A42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926401C1-9077-49F4-BC8C-F2D7AAEDF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230A81CA-7F5E-5098-ED31-7A52127B589E}"/>
              </a:ext>
            </a:extLst>
          </p:cNvPr>
          <p:cNvSpPr>
            <a:spLocks noGrp="1"/>
          </p:cNvSpPr>
          <p:nvPr>
            <p:ph type="title"/>
          </p:nvPr>
        </p:nvSpPr>
        <p:spPr>
          <a:xfrm>
            <a:off x="7221866" y="967167"/>
            <a:ext cx="3514639" cy="2374516"/>
          </a:xfrm>
        </p:spPr>
        <p:txBody>
          <a:bodyPr vert="horz" lIns="91440" tIns="45720" rIns="91440" bIns="0" rtlCol="0" anchor="b">
            <a:normAutofit/>
          </a:bodyPr>
          <a:lstStyle/>
          <a:p>
            <a:r>
              <a:rPr lang="en-US" sz="4800" dirty="0"/>
              <a:t>Time spent per category</a:t>
            </a:r>
          </a:p>
        </p:txBody>
      </p:sp>
      <p:grpSp>
        <p:nvGrpSpPr>
          <p:cNvPr id="47" name="Group 46">
            <a:extLst>
              <a:ext uri="{FF2B5EF4-FFF2-40B4-BE49-F238E27FC236}">
                <a16:creationId xmlns:a16="http://schemas.microsoft.com/office/drawing/2014/main" id="{6F4DCDBC-53A5-4E64-9410-90FAC8F19A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7" y="482171"/>
            <a:ext cx="6104331" cy="5149101"/>
            <a:chOff x="7463259" y="583365"/>
            <a:chExt cx="6104330" cy="5181928"/>
          </a:xfrm>
        </p:grpSpPr>
        <p:sp>
          <p:nvSpPr>
            <p:cNvPr id="48" name="Rectangle 47">
              <a:extLst>
                <a:ext uri="{FF2B5EF4-FFF2-40B4-BE49-F238E27FC236}">
                  <a16:creationId xmlns:a16="http://schemas.microsoft.com/office/drawing/2014/main" id="{38AA2233-67A4-4405-A6A0-16532F2AE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9" y="583365"/>
              <a:ext cx="610433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8FC11D8-17C9-427C-9008-CD14BB70D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8" y="915807"/>
              <a:ext cx="5471354"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Content Placeholder 4" descr="A graph with blue squares&#10;&#10;Description automatically generated">
            <a:extLst>
              <a:ext uri="{FF2B5EF4-FFF2-40B4-BE49-F238E27FC236}">
                <a16:creationId xmlns:a16="http://schemas.microsoft.com/office/drawing/2014/main" id="{44891104-5E1F-EE65-5548-9BF9BAFC7E7F}"/>
              </a:ext>
            </a:extLst>
          </p:cNvPr>
          <p:cNvPicPr>
            <a:picLocks noGrp="1" noChangeAspect="1"/>
          </p:cNvPicPr>
          <p:nvPr>
            <p:ph idx="1"/>
          </p:nvPr>
        </p:nvPicPr>
        <p:blipFill>
          <a:blip r:embed="rId4"/>
          <a:srcRect t="773" r="1" b="1"/>
          <a:stretch/>
        </p:blipFill>
        <p:spPr>
          <a:xfrm>
            <a:off x="1004759" y="912392"/>
            <a:ext cx="5352427" cy="4288657"/>
          </a:xfrm>
          <a:prstGeom prst="rect">
            <a:avLst/>
          </a:prstGeom>
        </p:spPr>
      </p:pic>
      <p:cxnSp>
        <p:nvCxnSpPr>
          <p:cNvPr id="51" name="Straight Connector 50">
            <a:extLst>
              <a:ext uri="{FF2B5EF4-FFF2-40B4-BE49-F238E27FC236}">
                <a16:creationId xmlns:a16="http://schemas.microsoft.com/office/drawing/2014/main" id="{10736E1A-F5DA-490E-93F3-6B41FD17D1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8030" y="3526496"/>
            <a:ext cx="3511548"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3" name="Picture 52">
            <a:extLst>
              <a:ext uri="{FF2B5EF4-FFF2-40B4-BE49-F238E27FC236}">
                <a16:creationId xmlns:a16="http://schemas.microsoft.com/office/drawing/2014/main" id="{F03E1F11-377D-4B2D-857A-B5FC620E14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5" name="Straight Connector 54">
            <a:extLst>
              <a:ext uri="{FF2B5EF4-FFF2-40B4-BE49-F238E27FC236}">
                <a16:creationId xmlns:a16="http://schemas.microsoft.com/office/drawing/2014/main" id="{DF0BC6F4-2CDB-4CCF-BDC9-F976C39B88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37CD05B-64C9-363C-A1E8-670972F28A83}"/>
              </a:ext>
            </a:extLst>
          </p:cNvPr>
          <p:cNvSpPr txBox="1"/>
          <p:nvPr/>
        </p:nvSpPr>
        <p:spPr>
          <a:xfrm>
            <a:off x="7049627" y="3911288"/>
            <a:ext cx="4443883" cy="369332"/>
          </a:xfrm>
          <a:prstGeom prst="rect">
            <a:avLst/>
          </a:prstGeom>
          <a:noFill/>
        </p:spPr>
        <p:txBody>
          <a:bodyPr wrap="square" rtlCol="0">
            <a:spAutoFit/>
          </a:bodyPr>
          <a:lstStyle/>
          <a:p>
            <a:r>
              <a:rPr lang="en-US" dirty="0"/>
              <a:t>*Categories 3, 4, 6 have an open status.</a:t>
            </a:r>
          </a:p>
        </p:txBody>
      </p:sp>
    </p:spTree>
    <p:extLst>
      <p:ext uri="{BB962C8B-B14F-4D97-AF65-F5344CB8AC3E}">
        <p14:creationId xmlns:p14="http://schemas.microsoft.com/office/powerpoint/2010/main" val="1090582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DE5CDF-1512-4CDA-B956-23D223F8D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27" name="Picture 26">
            <a:extLst>
              <a:ext uri="{FF2B5EF4-FFF2-40B4-BE49-F238E27FC236}">
                <a16:creationId xmlns:a16="http://schemas.microsoft.com/office/drawing/2014/main" id="{B029D7D8-5A6B-4C76-94C8-15798C6C5A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9" name="Straight Connector 28">
            <a:extLst>
              <a:ext uri="{FF2B5EF4-FFF2-40B4-BE49-F238E27FC236}">
                <a16:creationId xmlns:a16="http://schemas.microsoft.com/office/drawing/2014/main" id="{A5C9319C-E20D-4884-952F-60B6A58C3E3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useBgFill="1">
        <p:nvSpPr>
          <p:cNvPr id="31" name="Rectangle 30">
            <a:extLst>
              <a:ext uri="{FF2B5EF4-FFF2-40B4-BE49-F238E27FC236}">
                <a16:creationId xmlns:a16="http://schemas.microsoft.com/office/drawing/2014/main" id="{F1176DA6-4BBF-42A4-9C94-E6613CCD6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9AAB0AE-172B-4FB4-80C2-86CD6B824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659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8AF83EE-2021-8694-F7EB-017BD8D390AE}"/>
              </a:ext>
            </a:extLst>
          </p:cNvPr>
          <p:cNvPicPr>
            <a:picLocks noGrp="1" noChangeAspect="1"/>
          </p:cNvPicPr>
          <p:nvPr>
            <p:ph idx="1"/>
          </p:nvPr>
        </p:nvPicPr>
        <p:blipFill>
          <a:blip r:embed="rId4"/>
          <a:stretch>
            <a:fillRect/>
          </a:stretch>
        </p:blipFill>
        <p:spPr>
          <a:xfrm>
            <a:off x="2646422" y="643467"/>
            <a:ext cx="6899155" cy="5571066"/>
          </a:xfrm>
          <a:prstGeom prst="rect">
            <a:avLst/>
          </a:prstGeom>
        </p:spPr>
      </p:pic>
    </p:spTree>
    <p:extLst>
      <p:ext uri="{BB962C8B-B14F-4D97-AF65-F5344CB8AC3E}">
        <p14:creationId xmlns:p14="http://schemas.microsoft.com/office/powerpoint/2010/main" val="3289057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0" name="Straight Connector 39">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42" name="Rectangle 41">
            <a:extLst>
              <a:ext uri="{FF2B5EF4-FFF2-40B4-BE49-F238E27FC236}">
                <a16:creationId xmlns:a16="http://schemas.microsoft.com/office/drawing/2014/main" id="{2FA7AD0A-1871-4DF8-9235-F49D0513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36B04CFB-FAE5-47DD-9B3E-4E9BA7A89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A068A9A5-F522-8741-D1C0-61134AEA340F}"/>
              </a:ext>
            </a:extLst>
          </p:cNvPr>
          <p:cNvSpPr>
            <a:spLocks noGrp="1"/>
          </p:cNvSpPr>
          <p:nvPr>
            <p:ph type="title"/>
          </p:nvPr>
        </p:nvSpPr>
        <p:spPr>
          <a:xfrm>
            <a:off x="659301" y="1474969"/>
            <a:ext cx="2823919" cy="1868760"/>
          </a:xfrm>
        </p:spPr>
        <p:txBody>
          <a:bodyPr vert="horz" lIns="91440" tIns="45720" rIns="91440" bIns="0" rtlCol="0" anchor="b">
            <a:normAutofit fontScale="90000"/>
          </a:bodyPr>
          <a:lstStyle/>
          <a:p>
            <a:r>
              <a:rPr lang="en-US" sz="3600" dirty="0"/>
              <a:t>Service request count by category</a:t>
            </a:r>
          </a:p>
        </p:txBody>
      </p:sp>
      <p:cxnSp>
        <p:nvCxnSpPr>
          <p:cNvPr id="44" name="Straight Connector 43">
            <a:extLst>
              <a:ext uri="{FF2B5EF4-FFF2-40B4-BE49-F238E27FC236}">
                <a16:creationId xmlns:a16="http://schemas.microsoft.com/office/drawing/2014/main" id="{EE68D41B-9286-479F-9AB7-678C8E348D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9301" y="3528543"/>
            <a:ext cx="282391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45" name="Group 44">
            <a:extLst>
              <a:ext uri="{FF2B5EF4-FFF2-40B4-BE49-F238E27FC236}">
                <a16:creationId xmlns:a16="http://schemas.microsoft.com/office/drawing/2014/main" id="{E8ACF89C-CFC3-4D68-B3C4-2BEFB7BBE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46" name="Rectangle 45">
              <a:extLst>
                <a:ext uri="{FF2B5EF4-FFF2-40B4-BE49-F238E27FC236}">
                  <a16:creationId xmlns:a16="http://schemas.microsoft.com/office/drawing/2014/main" id="{3B770B7D-3C5C-4682-8DF0-20783592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6893E11-7EC1-4EB6-A2A8-0B693F8FE5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622F7FD7-8884-4FD5-95AB-0B5C6033A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487" y="977965"/>
            <a:ext cx="6615582" cy="4135339"/>
          </a:xfrm>
          <a:prstGeom prst="rect">
            <a:avLst/>
          </a:prstGeom>
          <a:solidFill>
            <a:schemeClr val="bg1"/>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with blue rectangular bars&#10;&#10;Description automatically generated">
            <a:extLst>
              <a:ext uri="{FF2B5EF4-FFF2-40B4-BE49-F238E27FC236}">
                <a16:creationId xmlns:a16="http://schemas.microsoft.com/office/drawing/2014/main" id="{8D7AE46A-356F-32CF-A9C5-3EEE773D2099}"/>
              </a:ext>
            </a:extLst>
          </p:cNvPr>
          <p:cNvPicPr>
            <a:picLocks noGrp="1" noChangeAspect="1"/>
          </p:cNvPicPr>
          <p:nvPr>
            <p:ph idx="1"/>
          </p:nvPr>
        </p:nvPicPr>
        <p:blipFill>
          <a:blip r:embed="rId4"/>
          <a:stretch>
            <a:fillRect/>
          </a:stretch>
        </p:blipFill>
        <p:spPr>
          <a:xfrm>
            <a:off x="5365918" y="1116345"/>
            <a:ext cx="4787830" cy="3866172"/>
          </a:xfrm>
          <a:prstGeom prst="rect">
            <a:avLst/>
          </a:prstGeom>
        </p:spPr>
      </p:pic>
      <p:pic>
        <p:nvPicPr>
          <p:cNvPr id="49" name="Picture 48">
            <a:extLst>
              <a:ext uri="{FF2B5EF4-FFF2-40B4-BE49-F238E27FC236}">
                <a16:creationId xmlns:a16="http://schemas.microsoft.com/office/drawing/2014/main" id="{16EFE474-4FE0-4E8F-8F09-5ED2C9E76A8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7" name="Straight Connector 36">
            <a:extLst>
              <a:ext uri="{FF2B5EF4-FFF2-40B4-BE49-F238E27FC236}">
                <a16:creationId xmlns:a16="http://schemas.microsoft.com/office/drawing/2014/main" id="{CF8B8C81-54DC-4AF5-B682-3A2C70A6B5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02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8" name="Rectangle 17">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9B25B602-AC44-BD8B-4B86-747AD915A658}"/>
              </a:ext>
            </a:extLst>
          </p:cNvPr>
          <p:cNvSpPr>
            <a:spLocks noGrp="1"/>
          </p:cNvSpPr>
          <p:nvPr>
            <p:ph type="title"/>
          </p:nvPr>
        </p:nvSpPr>
        <p:spPr>
          <a:xfrm>
            <a:off x="1452616" y="962902"/>
            <a:ext cx="4176384" cy="2380828"/>
          </a:xfrm>
        </p:spPr>
        <p:txBody>
          <a:bodyPr vert="horz" lIns="91440" tIns="45720" rIns="91440" bIns="0" rtlCol="0" anchor="b">
            <a:normAutofit fontScale="90000"/>
          </a:bodyPr>
          <a:lstStyle/>
          <a:p>
            <a:r>
              <a:rPr lang="en-US" sz="4800" dirty="0"/>
              <a:t>Number of service requests by owner</a:t>
            </a:r>
          </a:p>
        </p:txBody>
      </p:sp>
      <p:cxnSp>
        <p:nvCxnSpPr>
          <p:cNvPr id="22" name="Straight Connector 21">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Content Placeholder 4" descr="A graph with blue rectangular bars&#10;&#10;Description automatically generated with medium confidence">
            <a:extLst>
              <a:ext uri="{FF2B5EF4-FFF2-40B4-BE49-F238E27FC236}">
                <a16:creationId xmlns:a16="http://schemas.microsoft.com/office/drawing/2014/main" id="{A67C3E88-E2B2-7848-DC0A-225A600210F9}"/>
              </a:ext>
            </a:extLst>
          </p:cNvPr>
          <p:cNvPicPr>
            <a:picLocks noGrp="1" noChangeAspect="1"/>
          </p:cNvPicPr>
          <p:nvPr>
            <p:ph idx="1"/>
          </p:nvPr>
        </p:nvPicPr>
        <p:blipFill>
          <a:blip r:embed="rId4"/>
          <a:stretch>
            <a:fillRect/>
          </a:stretch>
        </p:blipFill>
        <p:spPr>
          <a:xfrm>
            <a:off x="6096000" y="607637"/>
            <a:ext cx="5806992" cy="4689144"/>
          </a:xfrm>
          <a:prstGeom prst="rect">
            <a:avLst/>
          </a:prstGeom>
        </p:spPr>
      </p:pic>
      <p:pic>
        <p:nvPicPr>
          <p:cNvPr id="24" name="Picture 23">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7161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E48A54-C837-8B68-6373-7612F068A493}"/>
              </a:ext>
            </a:extLst>
          </p:cNvPr>
          <p:cNvSpPr>
            <a:spLocks noGrp="1"/>
          </p:cNvSpPr>
          <p:nvPr>
            <p:ph type="title"/>
          </p:nvPr>
        </p:nvSpPr>
        <p:spPr>
          <a:xfrm>
            <a:off x="1451579" y="804519"/>
            <a:ext cx="9603275" cy="1049235"/>
          </a:xfrm>
        </p:spPr>
        <p:txBody>
          <a:bodyPr>
            <a:normAutofit/>
          </a:bodyPr>
          <a:lstStyle/>
          <a:p>
            <a:r>
              <a:rPr lang="en-US" dirty="0"/>
              <a:t>Insights gathered</a:t>
            </a:r>
          </a:p>
        </p:txBody>
      </p:sp>
      <p:cxnSp>
        <p:nvCxnSpPr>
          <p:cNvPr id="11" name="Straight Connector 10">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A4AB1FD4-76EC-169F-E549-AB20AF8EB9F7}"/>
              </a:ext>
            </a:extLst>
          </p:cNvPr>
          <p:cNvGraphicFramePr>
            <a:graphicFrameLocks noGrp="1"/>
          </p:cNvGraphicFramePr>
          <p:nvPr>
            <p:ph idx="1"/>
            <p:extLst>
              <p:ext uri="{D42A27DB-BD31-4B8C-83A1-F6EECF244321}">
                <p14:modId xmlns:p14="http://schemas.microsoft.com/office/powerpoint/2010/main" val="1472680470"/>
              </p:ext>
            </p:extLst>
          </p:nvPr>
        </p:nvGraphicFramePr>
        <p:xfrm>
          <a:off x="1450975" y="2331497"/>
          <a:ext cx="9604375" cy="37232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895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D32A60-013B-47A8-8833-D24240809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27932B-B694-4C4C-90D7-A0333A7C5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0D9B91BC-AC75-D5E5-9C95-6355DA8A6855}"/>
              </a:ext>
            </a:extLst>
          </p:cNvPr>
          <p:cNvSpPr>
            <a:spLocks noGrp="1"/>
          </p:cNvSpPr>
          <p:nvPr>
            <p:ph type="title"/>
          </p:nvPr>
        </p:nvSpPr>
        <p:spPr>
          <a:xfrm>
            <a:off x="1451579" y="2303047"/>
            <a:ext cx="3272093" cy="2674198"/>
          </a:xfrm>
        </p:spPr>
        <p:txBody>
          <a:bodyPr anchor="t">
            <a:normAutofit/>
          </a:bodyPr>
          <a:lstStyle/>
          <a:p>
            <a:r>
              <a:rPr lang="en-US" sz="2500" dirty="0"/>
              <a:t>recommendations</a:t>
            </a:r>
          </a:p>
        </p:txBody>
      </p:sp>
      <p:cxnSp>
        <p:nvCxnSpPr>
          <p:cNvPr id="13" name="Straight Connector 12">
            <a:extLst>
              <a:ext uri="{FF2B5EF4-FFF2-40B4-BE49-F238E27FC236}">
                <a16:creationId xmlns:a16="http://schemas.microsoft.com/office/drawing/2014/main" id="{9EBB0476-5CF0-4F44-8D68-5D42D7AEE4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2146542"/>
            <a:ext cx="327209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5" name="Title 1">
            <a:extLst>
              <a:ext uri="{FF2B5EF4-FFF2-40B4-BE49-F238E27FC236}">
                <a16:creationId xmlns:a16="http://schemas.microsoft.com/office/drawing/2014/main" id="{A9DA474E-6B91-4200-840F-0257B2358A75}"/>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1580" y="3122496"/>
            <a:ext cx="3530157" cy="104923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endParaRPr lang="en-US" dirty="0"/>
          </a:p>
        </p:txBody>
      </p:sp>
      <p:pic>
        <p:nvPicPr>
          <p:cNvPr id="17" name="Picture 16">
            <a:extLst>
              <a:ext uri="{FF2B5EF4-FFF2-40B4-BE49-F238E27FC236}">
                <a16:creationId xmlns:a16="http://schemas.microsoft.com/office/drawing/2014/main" id="{DF63C9AD-AE6E-4512-8171-91612E84CC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9" name="Straight Connector 18">
            <a:extLst>
              <a:ext uri="{FF2B5EF4-FFF2-40B4-BE49-F238E27FC236}">
                <a16:creationId xmlns:a16="http://schemas.microsoft.com/office/drawing/2014/main" id="{FE1A49CE-B63D-457A-A180-1C883E1A63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724993E-9A37-586F-7EDC-C638FB3EC872}"/>
              </a:ext>
            </a:extLst>
          </p:cNvPr>
          <p:cNvGraphicFramePr>
            <a:graphicFrameLocks noGrp="1"/>
          </p:cNvGraphicFramePr>
          <p:nvPr>
            <p:ph idx="1"/>
            <p:extLst>
              <p:ext uri="{D42A27DB-BD31-4B8C-83A1-F6EECF244321}">
                <p14:modId xmlns:p14="http://schemas.microsoft.com/office/powerpoint/2010/main" val="2197099717"/>
              </p:ext>
            </p:extLst>
          </p:nvPr>
        </p:nvGraphicFramePr>
        <p:xfrm>
          <a:off x="5141913" y="803274"/>
          <a:ext cx="6436529" cy="48493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1941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5874</TotalTime>
  <Words>1303</Words>
  <Application>Microsoft Macintosh PowerPoint</Application>
  <PresentationFormat>Widescreen</PresentationFormat>
  <Paragraphs>127</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Century Gothic</vt:lpstr>
      <vt:lpstr>Gill Sans MT</vt:lpstr>
      <vt:lpstr>Gallery</vt:lpstr>
      <vt:lpstr>Analyzing Staywell Properties’ Service Requests</vt:lpstr>
      <vt:lpstr>OBJECTIVES</vt:lpstr>
      <vt:lpstr>ABOUT THE DATA</vt:lpstr>
      <vt:lpstr>Tables + descriptions</vt:lpstr>
      <vt:lpstr>What are the service categories?</vt:lpstr>
      <vt:lpstr>Time spent per category</vt:lpstr>
      <vt:lpstr>PowerPoint Presentation</vt:lpstr>
      <vt:lpstr>Service request count by category</vt:lpstr>
      <vt:lpstr>Number of service requests by owner</vt:lpstr>
      <vt:lpstr>Insights gathered</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Francine Diep</dc:creator>
  <cp:lastModifiedBy>Francine Diep</cp:lastModifiedBy>
  <cp:revision>9</cp:revision>
  <dcterms:created xsi:type="dcterms:W3CDTF">2024-12-02T22:06:27Z</dcterms:created>
  <dcterms:modified xsi:type="dcterms:W3CDTF">2024-12-07T00:00:56Z</dcterms:modified>
</cp:coreProperties>
</file>